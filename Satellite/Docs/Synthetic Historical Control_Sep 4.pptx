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9" r:id="rId4"/>
    <p:sldId id="258" r:id="rId5"/>
    <p:sldId id="263" r:id="rId6"/>
    <p:sldId id="264" r:id="rId7"/>
    <p:sldId id="285" r:id="rId8"/>
    <p:sldId id="267" r:id="rId9"/>
    <p:sldId id="268" r:id="rId10"/>
    <p:sldId id="269" r:id="rId11"/>
    <p:sldId id="270" r:id="rId12"/>
    <p:sldId id="286" r:id="rId13"/>
    <p:sldId id="273" r:id="rId14"/>
    <p:sldId id="274" r:id="rId15"/>
    <p:sldId id="277" r:id="rId16"/>
    <p:sldId id="275" r:id="rId17"/>
    <p:sldId id="276" r:id="rId18"/>
    <p:sldId id="278" r:id="rId19"/>
    <p:sldId id="279" r:id="rId20"/>
    <p:sldId id="284" r:id="rId21"/>
    <p:sldId id="282" r:id="rId22"/>
    <p:sldId id="283" r:id="rId23"/>
    <p:sldId id="262" r:id="rId24"/>
    <p:sldId id="281" r:id="rId25"/>
    <p:sldId id="280" r:id="rId26"/>
    <p:sldId id="288" r:id="rId27"/>
    <p:sldId id="27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52"/>
    <p:restoredTop sz="88219"/>
  </p:normalViewPr>
  <p:slideViewPr>
    <p:cSldViewPr snapToGrid="0">
      <p:cViewPr>
        <p:scale>
          <a:sx n="108" d="100"/>
          <a:sy n="108" d="100"/>
        </p:scale>
        <p:origin x="1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47624-A1E1-6041-A1E6-C75C5B83523F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A702B-D696-9C4D-92C2-3E6E6B4C5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52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89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observed outcome is not determined only by the disaster.</a:t>
            </a:r>
          </a:p>
          <a:p>
            <a:pPr lvl="1"/>
            <a:r>
              <a:rPr lang="en-US" sz="2800" dirty="0"/>
              <a:t>satellite outcome is also affected by observed factors and by unobserved time-varying factors.</a:t>
            </a:r>
          </a:p>
          <a:p>
            <a:pPr lvl="1"/>
            <a:r>
              <a:rPr lang="en-US" sz="2800" dirty="0"/>
              <a:t>seasonality, vegetation growth, soil moisture, rainfall conditions, or other environmental changes that would have occurred even without the hurricane.</a:t>
            </a:r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dirty="0"/>
              <a:t>SCM or augmented SCM, including extensions with multiple outcomes construct the counterfactual using other geographic locations.</a:t>
            </a:r>
          </a:p>
          <a:p>
            <a:pPr lvl="1"/>
            <a:r>
              <a:rPr lang="en-US" sz="2800" dirty="0"/>
              <a:t>geographic donor sites may not provide a credible counterfactual.</a:t>
            </a:r>
          </a:p>
          <a:p>
            <a:pPr lvl="2"/>
            <a:r>
              <a:rPr lang="en-US" sz="2800" dirty="0"/>
              <a:t>nearby locations may also be affected by the hurricane</a:t>
            </a:r>
          </a:p>
          <a:p>
            <a:pPr lvl="2"/>
            <a:r>
              <a:rPr lang="en-US" sz="2800" dirty="0"/>
              <a:t>locations farther away may have very different elevation, vegetation, terrain, land cover, or climate.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76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05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62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94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Start with all historical donor blocks.</a:t>
                </a:r>
              </a:p>
              <a:p>
                <a:pPr lvl="0"/>
                <a:r>
                  <a:rPr lang="en-US" dirty="0"/>
                  <a:t>Select the single donor that best matches the treated pre-treatment latent trajectory.</a:t>
                </a:r>
              </a:p>
              <a:p>
                <a:pPr lvl="0"/>
                <a:r>
                  <a:rPr lang="en-US" dirty="0"/>
                  <a:t>Add one donor at a time, choosing the donor that reduces the matching MSE the most, and re-estimate all weights.</a:t>
                </a:r>
              </a:p>
              <a:p>
                <a:pPr lvl="0"/>
                <a:r>
                  <a:rPr lang="en-US" dirty="0"/>
                  <a:t>Stop when adding another donor reduces MSE by less than the tolerance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𝜁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Start with all historical donor blocks.</a:t>
                </a:r>
              </a:p>
              <a:p>
                <a:pPr lvl="0"/>
                <a:r>
                  <a:rPr lang="en-US" dirty="0"/>
                  <a:t>Select the single donor that best matches the treated pre-treatment latent trajectory.</a:t>
                </a:r>
              </a:p>
              <a:p>
                <a:pPr lvl="0"/>
                <a:r>
                  <a:rPr lang="en-US" dirty="0"/>
                  <a:t>Add one donor at a time, choosing the donor that reduces the matching MSE the most, and re-estimate all weights.</a:t>
                </a:r>
              </a:p>
              <a:p>
                <a:pPr lvl="0"/>
                <a:r>
                  <a:rPr lang="en-US" dirty="0"/>
                  <a:t>Stop when adding another donor reduces MSE by less than the tolerance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𝜁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5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Sine and cosine are used to capture the </a:t>
                </a:r>
                <a:r>
                  <a:rPr lang="en-US" b="1" dirty="0"/>
                  <a:t>repeating annual seasonal pattern</a:t>
                </a:r>
                <a:r>
                  <a:rPr lang="en-US" dirty="0"/>
                  <a:t> because months are cyclical rather than linear. We estimate the seasonal coefficients with OLS using a linear time trend, remove the seasonal component, and then use kernel smoothing on the residuals to estimate the latent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𝑙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do not use Robinson-style kernel </a:t>
                </a:r>
                <a:r>
                  <a:rPr lang="en-US" dirty="0" err="1"/>
                  <a:t>residualization</a:t>
                </a:r>
                <a:r>
                  <a:rPr lang="en-US" dirty="0"/>
                  <a:t> to estimate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en-US" dirty="0"/>
                  <a:t>because the seasonal regressors are deterministic functions of time: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sin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𝜋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/12</m:t>
                          </m:r>
                        </m:e>
                      </m:d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, </m:t>
                      </m:r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cos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𝜋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/12</m:t>
                          </m:r>
                        </m:e>
                      </m:d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we kernel-smooth them on time, then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≈</m:t>
                      </m:r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 the </a:t>
                </a:r>
                <a:r>
                  <a:rPr lang="en-US" dirty="0" err="1"/>
                  <a:t>residualized</a:t>
                </a:r>
                <a:r>
                  <a:rPr lang="en-US" dirty="0"/>
                  <a:t> regressors become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∣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≈0.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That leaves almost no variation to identify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en-US" dirty="0"/>
                  <a:t>. In Robinson’s framework, identification requires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lang="en-US" dirty="0"/>
                  <a:t>to contain variation that is not perfectly predictable from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𝑍</m:t>
                    </m:r>
                  </m:oMath>
                </a14:m>
                <a:r>
                  <a:rPr lang="en-US" dirty="0"/>
                  <a:t>. Here, with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𝑍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en-US" dirty="0"/>
                  <a:t>, sine and cosine are essentially fully determined by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𝑡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Therefore, in our implementation we estimate the seasonal coefficients using OLS with a linear time trend: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𝛼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𝜆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sin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𝜋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/12</m:t>
                          </m:r>
                        </m:e>
                      </m:d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cos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⁡</m:t>
                      </m:r>
                      <m:d>
                        <m:dPr>
                          <m:ctrlP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𝜋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/12</m:t>
                          </m:r>
                        </m:e>
                      </m:d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preserves the variation in the seasonal terms. After removing the estimated seasonal component, we still use kernel smoothing to estimate the latent component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𝑙</m:t>
                        </m:r>
                      </m:e>
                      <m:sub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slide-ready version:</a:t>
                </a:r>
              </a:p>
              <a:p>
                <a:r>
                  <a:rPr lang="en-US" dirty="0"/>
                  <a:t>Kernel </a:t>
                </a:r>
                <a:r>
                  <a:rPr lang="en-US" dirty="0" err="1"/>
                  <a:t>residualization</a:t>
                </a:r>
                <a:r>
                  <a:rPr lang="en-US" dirty="0"/>
                  <a:t> is not used for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en-US" dirty="0"/>
                  <a:t>because sine and cosine are deterministic functions of time. Conditioning on time would remove almost all their variation, making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𝛽</m:t>
                    </m:r>
                  </m:oMath>
                </a14:m>
                <a:r>
                  <a:rPr lang="en-US" dirty="0"/>
                  <a:t>weakly identified. We therefore estimate seasonality with OLS, then use kernel smoothing only for the latent component.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Sine and cosine are used to capture the </a:t>
                </a:r>
                <a:r>
                  <a:rPr lang="en-US" b="1" dirty="0"/>
                  <a:t>repeating annual seasonal pattern</a:t>
                </a:r>
                <a:r>
                  <a:rPr lang="en-US" dirty="0"/>
                  <a:t> because months are cyclical rather than linear. We estimate the seasonal coefficients with OLS using a linear time trend, remove the seasonal component, and then use kernel smoothing on the residuals to estimate the latent component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𝑙_𝑡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We do not use Robinson-style kernel </a:t>
                </a:r>
                <a:r>
                  <a:rPr lang="en-US" dirty="0" err="1"/>
                  <a:t>residualization</a:t>
                </a:r>
                <a:r>
                  <a:rPr lang="en-US" dirty="0"/>
                  <a:t> to estimate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en-US" dirty="0"/>
                  <a:t>because the seasonal regressors are deterministic functions of time: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𝑥_1𝑡=sin⁡(2𝜋𝑡/12), 𝑥_2𝑡=cos⁡(2𝜋𝑡/12).</a:t>
                </a:r>
                <a:endParaRPr lang="en-US" dirty="0"/>
              </a:p>
              <a:p>
                <a:r>
                  <a:rPr lang="en-US" dirty="0"/>
                  <a:t>If we kernel-smooth them on time, then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𝐸(𝑥_𝑡∣𝑡)≈𝑥_𝑡,</a:t>
                </a:r>
                <a:endParaRPr lang="en-US" dirty="0"/>
              </a:p>
              <a:p>
                <a:r>
                  <a:rPr lang="en-US" dirty="0"/>
                  <a:t>so the </a:t>
                </a:r>
                <a:r>
                  <a:rPr lang="en-US" dirty="0" err="1"/>
                  <a:t>residualized</a:t>
                </a:r>
                <a:r>
                  <a:rPr lang="en-US" dirty="0"/>
                  <a:t> regressors become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𝑥_𝑡−𝐸(𝑥_𝑡∣𝑡)≈0.</a:t>
                </a:r>
                <a:endParaRPr lang="en-US" dirty="0"/>
              </a:p>
              <a:p>
                <a:r>
                  <a:rPr lang="en-US" dirty="0"/>
                  <a:t>That leaves almost no variation to identify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en-US" dirty="0"/>
                  <a:t>. In Robinson’s framework, identification requires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</a:t>
                </a:r>
                <a:r>
                  <a:rPr lang="en-US" dirty="0"/>
                  <a:t>to contain variation that is not perfectly predictable from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</a:t>
                </a:r>
                <a:r>
                  <a:rPr lang="en-US" dirty="0"/>
                  <a:t>. Here, with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𝑍=𝑡</a:t>
                </a:r>
                <a:r>
                  <a:rPr lang="en-US" dirty="0"/>
                  <a:t>, sine and cosine are essentially fully determined by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Therefore, in our implementation we estimate the seasonal coefficients using OLS with a linear time trend: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𝑦_𝑡=𝛼+𝜆𝑡+𝛽_1 sin⁡(2𝜋𝑡/12)+𝛽_2 cos⁡(2𝜋𝑡/12)+𝑢_𝑡.</a:t>
                </a:r>
                <a:endParaRPr lang="en-US" dirty="0"/>
              </a:p>
              <a:p>
                <a:r>
                  <a:rPr lang="en-US" dirty="0"/>
                  <a:t>This preserves the variation in the seasonal terms. After removing the estimated seasonal component, we still use kernel smoothing to estimate the latent component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𝑙_𝑡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A slide-ready version:</a:t>
                </a:r>
              </a:p>
              <a:p>
                <a:r>
                  <a:rPr lang="en-US" dirty="0"/>
                  <a:t>Kernel </a:t>
                </a:r>
                <a:r>
                  <a:rPr lang="en-US" dirty="0" err="1"/>
                  <a:t>residualization</a:t>
                </a:r>
                <a:r>
                  <a:rPr lang="en-US" dirty="0"/>
                  <a:t> is not used for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en-US" dirty="0"/>
                  <a:t>because sine and cosine are deterministic functions of time. Conditioning on time would remove almost all their variation, making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</a:t>
                </a:r>
                <a:r>
                  <a:rPr lang="en-US" dirty="0"/>
                  <a:t>weakly identified. We therefore estimate seasonality with OLS, then use kernel smoothing only for the latent component.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br>
                  <a:rPr lang="en-US" dirty="0"/>
                </a:b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44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41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90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79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50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A702B-D696-9C4D-92C2-3E6E6B4C566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5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541B-1654-D5B2-B26F-A99E66CB9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8103F-E37E-A08D-A52A-6A025ACAC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206FB-BA9B-C654-9EF9-D5FFBEF7B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1989D-9754-2D41-2110-AC4C1049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ADB20-2093-D851-32B7-46FEABAF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F62-B9E4-646D-2897-6A580354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A7C6-D608-CA40-4E0C-797043E77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3DE12-FDCF-E9C5-7AAC-3D5EA49EB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68DB7-C7CE-498F-0587-D238485DA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E9E35-76A6-A6C2-2802-A8568BD8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47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0E927-4420-07A8-B4C8-D925EA70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C4F0-8FF4-37CB-262C-45F6E844E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DE156-C771-1FB5-6A85-DE704369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4E194-2A4A-2BA1-B4E0-E2F545315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E305-9CC8-63BA-9FF6-5439C6E4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45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F2C1-8937-12F2-C50D-2266BCF17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8E228-5213-EC39-21A4-4782DBD76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9DF33-A8A3-EF38-3E4A-7C8AAA0C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C18727-24BC-A51D-9033-5C8E597FA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5DE60-3DC1-B542-3137-FA0A9146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83967-2BD3-CFA7-9EDD-D20D10C4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27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FB88-25E4-27AB-D759-90079450B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E6963C-B131-5F9E-BED1-D4A378735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05276-CE5D-EE49-8E1C-F62BA5E97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3EC33-442A-78BE-32FF-1471F5FC96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295F4F-2665-557F-E084-DF018A2096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3AEEC3-0D57-7A3D-78CE-D8800D06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530323-38CC-B163-42E7-85C8C161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603D0E-AB22-01B4-F8D1-C9979F33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0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B176-72F7-66D4-F915-211B61548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CA0F0-2340-567A-4483-FB140F794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BDBB5-6194-7753-FAAE-9B6B1CC3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E62C9-9D66-D6F7-D208-C6E01D3D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1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59647-4EF4-65BF-AF9D-FB6BC0E9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FEB6F9-BB17-4D9C-0313-B28A62A1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66AA-2AF7-4675-19F6-AC0D8604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6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41D7-39C8-C816-6628-D63B3F6E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1E83C-CDE5-2E85-B20F-6AAF297CE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D2C104-16FD-C399-5BC4-035E46131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88531-F0DB-055C-BEE7-9EF1091F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6B8B4-8718-BDC7-B47C-9533CDD1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EA4AF-B015-7BFB-48FD-1E4E4DBE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30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5AB4-F6F2-2511-B8FC-40F4AC87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AEC4B-F4C8-0083-8D55-8320CD484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4DE9E-B5CF-BF3C-C00C-2AD620173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2AD79-EF67-9C38-FCC1-190E06CF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A0DD6-B191-AB09-C131-B2E7FC36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2AD49-1C66-FD0D-6021-8067BCCC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1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7D4E-1C57-9D4D-1DFB-27D2A1D2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BD096-8599-DE95-12FE-5E4EF7D0E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3B9EE-B6EA-B896-1615-DFE4F5B3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272F8-AEEB-3A32-D082-9F401E62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FC70-7C8A-7CD5-7858-F283391B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7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6BE816-2E6D-3827-09CE-66ED555DB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15AA0-608A-985B-51E7-7B7EC59B5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1EA8D-5092-3CC7-2F56-6C1EE1152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3F5BF-DA2F-31DE-214A-399E29E4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EFF7A-D9F0-7FC6-7135-C119ECB0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1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2F92F9-8AB3-0BF0-09F9-F08FF0C20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9EB67-A1BC-44FE-359C-7AD374FEB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288FF-6C89-B0AE-CF3A-12F9C9E6F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E1D18-7948-8647-BFAA-0A57379E90C4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C942C-7676-6C48-E53D-9077B9C5BD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9DBFD-AA4A-8489-257D-F95B0DF57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2C7CD-73B7-F94B-B943-55427CC84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6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6AF84-173A-CC2C-5F1D-A37D1C0B8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310" y="4960758"/>
            <a:ext cx="6796345" cy="123608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sz="2400" b="1"/>
              <a:t>Synthetic Historical Control for Policy Evaluation </a:t>
            </a:r>
            <a:br>
              <a:rPr lang="en-US" sz="2400" b="1"/>
            </a:br>
            <a:r>
              <a:rPr lang="en-US" sz="2400" b="1"/>
              <a:t>Evidence from Satellite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35E36B-449F-FC80-D9E4-D3A90BE6C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9869" y="4960758"/>
            <a:ext cx="3323819" cy="1236086"/>
          </a:xfrm>
          <a:noFill/>
        </p:spPr>
        <p:txBody>
          <a:bodyPr anchor="ctr">
            <a:normAutofit/>
          </a:bodyPr>
          <a:lstStyle/>
          <a:p>
            <a:pPr algn="l"/>
            <a:r>
              <a:rPr lang="en-US" b="1" dirty="0"/>
              <a:t>September 4, 2026</a:t>
            </a:r>
          </a:p>
          <a:p>
            <a:pPr algn="l"/>
            <a:r>
              <a:rPr lang="en-US" b="1" dirty="0"/>
              <a:t>Yujuan Gao</a:t>
            </a:r>
          </a:p>
          <a:p>
            <a:pPr algn="l"/>
            <a:endParaRPr lang="en-US" b="1" dirty="0"/>
          </a:p>
        </p:txBody>
      </p:sp>
      <p:pic>
        <p:nvPicPr>
          <p:cNvPr id="15" name="Picture 14" descr="A shadow of a large radio antenna">
            <a:extLst>
              <a:ext uri="{FF2B5EF4-FFF2-40B4-BE49-F238E27FC236}">
                <a16:creationId xmlns:a16="http://schemas.microsoft.com/office/drawing/2014/main" id="{C6B8462C-A6A2-D258-5CB5-9F4FDF5969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451" r="-1" b="13094"/>
          <a:stretch>
            <a:fillRect/>
          </a:stretch>
        </p:blipFill>
        <p:spPr>
          <a:xfrm>
            <a:off x="320040" y="320040"/>
            <a:ext cx="11548872" cy="4462272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AD2EEB5-F5B4-4BDA-8293-9A997C129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827285" y="5121601"/>
            <a:ext cx="0" cy="91440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13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74509D-138E-9329-855D-132FF5B298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46"/>
          <a:stretch>
            <a:fillRect/>
          </a:stretch>
        </p:blipFill>
        <p:spPr>
          <a:xfrm>
            <a:off x="474562" y="183988"/>
            <a:ext cx="11539959" cy="649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42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251BD4-671E-A303-CBD1-574B57645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26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35F9D7-CAF2-2285-C2CC-8D9B743BCA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41" b="11388"/>
          <a:stretch>
            <a:fillRect/>
          </a:stretch>
        </p:blipFill>
        <p:spPr>
          <a:xfrm>
            <a:off x="167448" y="787377"/>
            <a:ext cx="11857104" cy="564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55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A23EB9-5851-869D-B5E0-5949972708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36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79526D-1930-60D2-1A02-15539542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51"/>
            <a:ext cx="10515600" cy="1012453"/>
          </a:xfrm>
        </p:spPr>
        <p:txBody>
          <a:bodyPr>
            <a:normAutofit/>
          </a:bodyPr>
          <a:lstStyle/>
          <a:p>
            <a:r>
              <a:rPr lang="en-US" sz="4000" dirty="0"/>
              <a:t>First Stage: Estimate Beta and Latent Component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0BC36E-43DA-5E07-4A68-863B6E1836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050"/>
          <a:stretch>
            <a:fillRect/>
          </a:stretch>
        </p:blipFill>
        <p:spPr>
          <a:xfrm>
            <a:off x="838200" y="971885"/>
            <a:ext cx="2567576" cy="863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0D381-862B-130B-9FC3-5AFC0F9C4247}"/>
                  </a:ext>
                </a:extLst>
              </p:cNvPr>
              <p:cNvSpPr txBox="1"/>
              <p:nvPr/>
            </p:nvSpPr>
            <p:spPr>
              <a:xfrm>
                <a:off x="1368136" y="1984338"/>
                <a:ext cx="9028216" cy="47200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/>
                  <a:t>1. Use local-linear kernel regression to estimate: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/>
                              </m:ctrlPr>
                            </m:accPr>
                            <m:e>
                              <m:r>
                                <a:rPr lang="en-US" i="1"/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i="1"/>
                            <m:t>𝑦</m:t>
                          </m:r>
                          <m:r>
                            <a:rPr lang="en-US"/>
                            <m:t>,</m:t>
                          </m:r>
                          <m:r>
                            <a:rPr lang="en-US" i="1"/>
                            <m:t>𝑡</m:t>
                          </m:r>
                        </m:sub>
                      </m:sSub>
                      <m:r>
                        <a:rPr lang="en-US"/>
                        <m:t>≈</m:t>
                      </m:r>
                      <m:r>
                        <a:rPr lang="en-US" i="1"/>
                        <m:t>𝐸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𝑦</m:t>
                              </m:r>
                            </m:e>
                            <m:sub>
                              <m:r>
                                <a:rPr lang="en-US" i="1"/>
                                <m:t>𝑡</m:t>
                              </m:r>
                            </m:sub>
                          </m:sSub>
                          <m:r>
                            <a:rPr lang="en-US"/>
                            <m:t>∣</m:t>
                          </m:r>
                          <m:r>
                            <a:rPr 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/>
                              </m:ctrlPr>
                            </m:accPr>
                            <m:e>
                              <m:r>
                                <a:rPr lang="en-US" i="1"/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i="1"/>
                            <m:t>𝑥</m:t>
                          </m:r>
                          <m:r>
                            <a:rPr lang="en-US"/>
                            <m:t>,</m:t>
                          </m:r>
                          <m:r>
                            <a:rPr lang="en-US" i="1"/>
                            <m:t>𝑡</m:t>
                          </m:r>
                        </m:sub>
                      </m:sSub>
                      <m:r>
                        <a:rPr lang="en-US"/>
                        <m:t>≈</m:t>
                      </m:r>
                      <m:r>
                        <a:rPr lang="en-US" i="1"/>
                        <m:t>𝐸</m:t>
                      </m:r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𝑥</m:t>
                              </m:r>
                            </m:e>
                            <m:sub>
                              <m:r>
                                <a:rPr lang="en-US" i="1"/>
                                <m:t>𝑡</m:t>
                              </m:r>
                            </m:sub>
                          </m:sSub>
                          <m:r>
                            <a:rPr lang="en-US"/>
                            <m:t>∣</m:t>
                          </m:r>
                          <m:r>
                            <a:rPr lang="en-US" i="1"/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342900" lvl="0" indent="-342900">
                  <a:buFont typeface="+mj-lt"/>
                  <a:buAutoNum type="arabicPeriod" startAt="2"/>
                </a:pPr>
                <a:r>
                  <a:rPr lang="en-US" b="1" dirty="0" err="1"/>
                  <a:t>Residualize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+mn-lt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+mn-lt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𝑦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+mn-lt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+mn-lt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𝑥</m:t>
                          </m:r>
                          <m:r>
                            <a:rPr lang="en-US" i="0">
                              <a:latin typeface="+mn-lt"/>
                            </a:rPr>
                            <m:t>,</m:t>
                          </m:r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342900" lvl="0" indent="-342900">
                  <a:buFont typeface="+mj-lt"/>
                  <a:buAutoNum type="arabicPeriod" startAt="3"/>
                </a:pPr>
                <a:r>
                  <a:rPr lang="en-US" b="1" dirty="0"/>
                  <a:t>Estimate </a:t>
                </a:r>
                <a14:m>
                  <m:oMath xmlns:m="http://schemas.openxmlformats.org/officeDocument/2006/math">
                    <m:r>
                      <a:rPr lang="en-US" i="1">
                        <a:latin typeface="+mn-lt"/>
                      </a:rPr>
                      <m:t>𝛽</m:t>
                    </m:r>
                  </m:oMath>
                </a14:m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i="1">
                              <a:latin typeface="+mn-lt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+mn-lt"/>
                            </a:rPr>
                            <m:t>𝛽</m:t>
                          </m:r>
                        </m:e>
                      </m:acc>
                      <m:r>
                        <a:rPr lang="en-US" i="0">
                          <a:latin typeface="+mn-lt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+mn-lt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latin typeface="+mn-lt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nary>
                              <m:sSubSup>
                                <m:sSubSup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US" i="0">
                                      <a:latin typeface="+mn-lt"/>
                                    </a:rPr>
                                    <m:t>⊤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i="0">
                              <a:latin typeface="+mn-lt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b="1" dirty="0"/>
                  <a:t>4. Estimate latent component</a:t>
                </a:r>
                <a:endParaRPr lang="en-US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>
                      <m:d>
                        <m:dPr>
                          <m:sepChr m:val=","/>
                          <m:ctrlPr>
                            <a:rPr lang="en-US" i="1"/>
                          </m:ctrlPr>
                        </m:dPr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/>
                                  </m:ctrlPr>
                                </m:accPr>
                                <m:e>
                                  <m:r>
                                    <a:rPr lang="en-US" i="1"/>
                                    <m:t>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/>
                                <m:t>𝑡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i="1"/>
                                  </m:ctrlPr>
                                </m:accPr>
                                <m:e>
                                  <m:r>
                                    <a:rPr lang="en-US" i="1"/>
                                    <m:t>𝑏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i="1"/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/>
                        <m:t>=</m:t>
                      </m:r>
                      <m:func>
                        <m:funcPr>
                          <m:ctrlPr>
                            <a:rPr lang="en-US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/>
                            <m:t>arg</m:t>
                          </m:r>
                        </m:fName>
                        <m:e>
                          <m:limLow>
                            <m:limLowPr>
                              <m:ctrlPr>
                                <a:rPr lang="en-US"/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/>
                                <m:t>min</m:t>
                              </m:r>
                            </m:e>
                            <m:lim>
                              <m:r>
                                <a:rPr lang="en-US" i="1"/>
                                <m:t>𝑎</m:t>
                              </m:r>
                              <m:r>
                                <a:rPr lang="en-US"/>
                                <m:t>,</m:t>
                              </m:r>
                              <m:r>
                                <a:rPr lang="en-US" i="1"/>
                                <m:t>𝑏</m:t>
                              </m:r>
                            </m:lim>
                          </m:limLow>
                        </m:e>
                      </m:func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i="1"/>
                          </m:ctrlPr>
                        </m:naryPr>
                        <m:sub>
                          <m:r>
                            <a:rPr lang="en-US" i="1"/>
                            <m:t>𝑠</m:t>
                          </m:r>
                          <m:r>
                            <a:rPr lang="en-US"/>
                            <m:t>≤</m:t>
                          </m:r>
                          <m:sSub>
                            <m:sSubPr>
                              <m:ctrlPr>
                                <a:rPr lang="en-US" i="1"/>
                              </m:ctrlPr>
                            </m:sSubPr>
                            <m:e>
                              <m:r>
                                <a:rPr lang="en-US" i="1"/>
                                <m:t>𝑇</m:t>
                              </m:r>
                            </m:e>
                            <m:sub>
                              <m:r>
                                <a:rPr lang="en-US"/>
                                <m:t>0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i="1"/>
                            <m:t>𝐾</m:t>
                          </m:r>
                        </m:e>
                      </m:nary>
                      <m:d>
                        <m:dPr>
                          <m:ctrlPr>
                            <a:rPr lang="en-US" i="1"/>
                          </m:ctrlPr>
                        </m:dPr>
                        <m:e>
                          <m:f>
                            <m:fPr>
                              <m:ctrlPr>
                                <a:rPr lang="en-US" i="1"/>
                              </m:ctrlPr>
                            </m:fPr>
                            <m:num>
                              <m:r>
                                <a:rPr lang="en-US" i="1"/>
                                <m:t>𝑠</m:t>
                              </m:r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𝑡</m:t>
                              </m:r>
                            </m:num>
                            <m:den>
                              <m:r>
                                <a:rPr lang="en-US" i="1"/>
                                <m:t>ℎ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i="1"/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/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/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/>
                                      </m:ctrlPr>
                                    </m:accPr>
                                    <m:e>
                                      <m:r>
                                        <a:rPr lang="en-US" i="1"/>
                                        <m:t>𝑢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/>
                                    <m:t>𝑠</m:t>
                                  </m:r>
                                </m:sub>
                              </m:sSub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𝑎</m:t>
                              </m:r>
                              <m:r>
                                <a:rPr lang="en-US"/>
                                <m:t>−</m:t>
                              </m:r>
                              <m:r>
                                <a:rPr lang="en-US" i="1"/>
                                <m:t>𝑏</m:t>
                              </m:r>
                              <m:d>
                                <m:dPr>
                                  <m:ctrlPr>
                                    <a:rPr lang="en-US" i="1"/>
                                  </m:ctrlPr>
                                </m:dPr>
                                <m:e>
                                  <m:r>
                                    <a:rPr lang="en-US" i="1"/>
                                    <m:t>𝑠</m:t>
                                  </m:r>
                                  <m:r>
                                    <a:rPr lang="en-US"/>
                                    <m:t>−</m:t>
                                  </m:r>
                                  <m:r>
                                    <a:rPr lang="en-US" i="1"/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/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latent estimate is the fitted intercept: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0D381-862B-130B-9FC3-5AFC0F9C4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136" y="1984338"/>
                <a:ext cx="9028216" cy="4720075"/>
              </a:xfrm>
              <a:prstGeom prst="rect">
                <a:avLst/>
              </a:prstGeom>
              <a:blipFill>
                <a:blip r:embed="rId4"/>
                <a:stretch>
                  <a:fillRect l="-562" t="-538" b="-15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584B029-FD37-60BF-BE52-7854D2A7B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799" y="1074173"/>
            <a:ext cx="5382233" cy="7440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A5093CB-1F21-4CED-3C11-96F98D775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0" y="6243666"/>
            <a:ext cx="1143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00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959F486-3D0E-46E9-4C14-38857A034A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821" y="1160606"/>
                <a:ext cx="10515600" cy="5697393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To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/>
                          <m:t>𝑤</m:t>
                        </m:r>
                      </m:e>
                      <m:sub>
                        <m:r>
                          <a:rPr lang="en-US" sz="2000" i="1"/>
                          <m:t>𝑜</m:t>
                        </m:r>
                      </m:sub>
                    </m:sSub>
                  </m:oMath>
                </a14:m>
                <a:r>
                  <a:rPr lang="en-US" sz="2000" dirty="0"/>
                  <a:t>using a standard quadratic-programming problem, replace the symmetric matrix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/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000" i="1"/>
                              </m:ctrlPr>
                            </m:accPr>
                            <m:e>
                              <m:r>
                                <a:rPr lang="en-US" sz="2000" i="1"/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2000" i="1"/>
                            <m:t>𝑝𝑟𝑒</m:t>
                          </m:r>
                        </m:sub>
                        <m:sup>
                          <m:r>
                            <a:rPr lang="en-US" sz="2000"/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/>
                              </m:ctrlPr>
                            </m:accPr>
                            <m:e>
                              <m:r>
                                <a:rPr lang="en-US" sz="2000" i="1"/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2000" i="1"/>
                            <m:t>𝑝𝑟𝑒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with its nearest positive-definite approximation: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sz="2000"/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sz="2000" i="1"/>
                              </m:ctrlPr>
                            </m:accPr>
                            <m:e>
                              <m:r>
                                <a:rPr lang="en-US" sz="2000" i="1"/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2000" i="1"/>
                            <m:t>𝑝𝑟𝑒</m:t>
                          </m:r>
                        </m:sub>
                        <m:sup>
                          <m:r>
                            <a:rPr lang="en-US" sz="2000"/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/>
                              </m:ctrlPr>
                            </m:accPr>
                            <m:e>
                              <m:r>
                                <a:rPr lang="en-US" sz="2000" i="1"/>
                                <m:t>𝐿</m:t>
                              </m:r>
                            </m:e>
                          </m:acc>
                        </m:e>
                        <m:sub>
                          <m:r>
                            <a:rPr lang="en-US" sz="2000" i="1"/>
                            <m:t>𝑝𝑟𝑒</m:t>
                          </m:r>
                        </m:sub>
                      </m:sSub>
                      <m:r>
                        <a:rPr lang="en-US" sz="2000"/>
                        <m:t>+</m:t>
                      </m:r>
                      <m:r>
                        <a:rPr lang="en-US" sz="2000" i="1"/>
                        <m:t>𝜍</m:t>
                      </m:r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r>
                            <a:rPr lang="en-US" sz="2000" i="1"/>
                            <m:t>𝐶</m:t>
                          </m:r>
                        </m:e>
                        <m:sub>
                          <m:r>
                            <a:rPr lang="en-US" sz="2000"/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sz="2000" i="1"/>
                          </m:ctrlPr>
                        </m:sSubSupPr>
                        <m:e>
                          <m:r>
                            <a:rPr lang="en-US" sz="2000" i="1"/>
                            <m:t>𝐶</m:t>
                          </m:r>
                        </m:e>
                        <m:sub>
                          <m:r>
                            <a:rPr lang="en-US" sz="2000"/>
                            <m:t>2</m:t>
                          </m:r>
                        </m:sub>
                        <m:sup>
                          <m:r>
                            <a:rPr lang="en-US" sz="2000"/>
                            <m:t>⊤</m:t>
                          </m:r>
                        </m:sup>
                      </m:sSubSup>
                      <m:r>
                        <a:rPr lang="en-US" sz="2000"/>
                        <m:t>,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000" i="1"/>
                      <m:t>𝜍</m:t>
                    </m:r>
                    <m:r>
                      <a:rPr lang="en-US" sz="2000"/>
                      <m:t>&gt;0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a small number close to zero;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/>
                          <m:t>𝐶</m:t>
                        </m:r>
                      </m:e>
                      <m:sub>
                        <m:r>
                          <a:rPr lang="en-US" sz="2000"/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is an </a:t>
                </a:r>
                <a14:m>
                  <m:oMath xmlns:m="http://schemas.openxmlformats.org/officeDocument/2006/math">
                    <m:r>
                      <a:rPr lang="en-US" sz="2000" i="1"/>
                      <m:t>𝑁</m:t>
                    </m:r>
                    <m:r>
                      <a:rPr lang="en-US" sz="2000"/>
                      <m:t>×</m:t>
                    </m:r>
                    <m:d>
                      <m:dPr>
                        <m:ctrlPr>
                          <a:rPr lang="en-US" sz="2000" i="1"/>
                        </m:ctrlPr>
                      </m:dPr>
                      <m:e>
                        <m:r>
                          <a:rPr lang="en-US" sz="2000" i="1"/>
                          <m:t>𝑁</m:t>
                        </m:r>
                        <m:r>
                          <a:rPr lang="en-US" sz="2000"/>
                          <m:t>−</m:t>
                        </m:r>
                        <m:r>
                          <a:rPr lang="en-US" sz="2000" i="1"/>
                          <m:t>𝑞</m:t>
                        </m:r>
                      </m:e>
                    </m:d>
                  </m:oMath>
                </a14:m>
                <a:r>
                  <a:rPr lang="en-US" sz="2000" dirty="0"/>
                  <a:t>matrix containing the eigenvectors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/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/>
                            </m:ctrlPr>
                          </m:accPr>
                          <m:e>
                            <m:r>
                              <a:rPr lang="en-US" sz="2000" i="1"/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sz="2000" i="1"/>
                          <m:t>𝑝𝑟𝑒</m:t>
                        </m:r>
                      </m:sub>
                      <m:sup>
                        <m:r>
                          <a:rPr lang="en-US" sz="2000"/>
                          <m:t>⊤</m:t>
                        </m:r>
                      </m:sup>
                    </m:sSubSup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/>
                            </m:ctrlPr>
                          </m:accPr>
                          <m:e>
                            <m:r>
                              <a:rPr lang="en-US" sz="2000" i="1"/>
                              <m:t>𝐿</m:t>
                            </m:r>
                          </m:e>
                        </m:acc>
                      </m:e>
                      <m:sub>
                        <m:r>
                          <a:rPr lang="en-US" sz="2000" i="1"/>
                          <m:t>𝑝𝑟𝑒</m:t>
                        </m:r>
                      </m:sub>
                    </m:sSub>
                  </m:oMath>
                </a14:m>
                <a:r>
                  <a:rPr lang="en-US" sz="2000" dirty="0"/>
                  <a:t>associated with its </a:t>
                </a:r>
                <a14:m>
                  <m:oMath xmlns:m="http://schemas.openxmlformats.org/officeDocument/2006/math">
                    <m:r>
                      <a:rPr lang="en-US" sz="2000" i="1"/>
                      <m:t>𝑁</m:t>
                    </m:r>
                    <m:r>
                      <a:rPr lang="en-US" sz="2000"/>
                      <m:t>−</m:t>
                    </m:r>
                    <m:r>
                      <a:rPr lang="en-US" sz="2000" i="1"/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zero eigenvalues; 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US" sz="2000" i="1"/>
                      <m:t>𝑞</m:t>
                    </m:r>
                    <m:r>
                      <a:rPr lang="en-US" sz="2000"/>
                      <m:t>=</m:t>
                    </m:r>
                    <m:r>
                      <m:rPr>
                        <m:sty m:val="p"/>
                      </m:rPr>
                      <a:rPr lang="en-US" sz="2000"/>
                      <m:t>rank</m:t>
                    </m:r>
                    <m:r>
                      <a:rPr lang="en-US" sz="2000"/>
                      <m:t>⁡</m:t>
                    </m:r>
                    <m:d>
                      <m:dPr>
                        <m:ctrlPr>
                          <a:rPr lang="en-US" sz="2000" i="1"/>
                        </m:ctrlPr>
                      </m:dPr>
                      <m:e>
                        <m:sSubSup>
                          <m:sSubSupPr>
                            <m:ctrlPr>
                              <a:rPr lang="en-US" sz="2000" i="1"/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sz="2000" i="1"/>
                                </m:ctrlPr>
                              </m:accPr>
                              <m:e>
                                <m:r>
                                  <a:rPr lang="en-US" sz="2000" i="1"/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/>
                              <m:t>𝑝𝑟𝑒</m:t>
                            </m:r>
                          </m:sub>
                          <m:sup>
                            <m:r>
                              <a:rPr lang="en-US" sz="2000"/>
                              <m:t>⊤</m:t>
                            </m:r>
                          </m:sup>
                        </m:sSubSup>
                        <m:sSub>
                          <m:sSubPr>
                            <m:ctrlPr>
                              <a:rPr lang="en-US" sz="2000" i="1"/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/>
                                </m:ctrlPr>
                              </m:accPr>
                              <m:e>
                                <m:r>
                                  <a:rPr lang="en-US" sz="2000" i="1"/>
                                  <m:t>𝐿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/>
                              <m:t>𝑝𝑟𝑒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pPr marL="0" lv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The constrained weight estimator is then: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000"/>
                          </m:ctrlPr>
                        </m:borderBoxPr>
                        <m:e>
                          <m:acc>
                            <m:accPr>
                              <m:chr m:val="̂"/>
                              <m:ctrlPr>
                                <a:rPr lang="en-US" sz="2000" i="1"/>
                              </m:ctrlPr>
                            </m:accPr>
                            <m:e>
                              <m:r>
                                <a:rPr lang="en-US" sz="2000" i="1"/>
                                <m:t>𝑤</m:t>
                              </m:r>
                            </m:e>
                          </m:acc>
                          <m:r>
                            <a:rPr lang="en-US" sz="2000"/>
                            <m:t>=</m:t>
                          </m:r>
                          <m:func>
                            <m:funcPr>
                              <m:ctrlPr>
                                <a:rPr lang="en-US" sz="2000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/>
                                <m:t>arg</m:t>
                              </m:r>
                            </m:fName>
                            <m:e>
                              <m:limLow>
                                <m:limLowPr>
                                  <m:ctrlPr>
                                    <a:rPr lang="en-US" sz="2000"/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/>
                                    <m:t>min</m:t>
                                  </m:r>
                                </m:e>
                                <m:lim>
                                  <m:r>
                                    <a:rPr lang="en-US" sz="2000" i="1"/>
                                    <m:t>𝑤</m:t>
                                  </m:r>
                                  <m:r>
                                    <a:rPr lang="en-US" sz="2000"/>
                                    <m:t>∈</m:t>
                                  </m:r>
                                  <m:r>
                                    <a:rPr lang="en-US" sz="2000"/>
                                    <m:t>𝒲</m:t>
                                  </m:r>
                                </m:lim>
                              </m:limLow>
                            </m:e>
                          </m:func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d>
                                <m:dPr>
                                  <m:begChr m:val="∥"/>
                                  <m:endChr m:val="∥"/>
                                  <m:ctrlPr>
                                    <a:rPr lang="en-US" sz="2000" i="1"/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/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/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/>
                                            <m:t>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i="1"/>
                                        <m:t>𝑝𝑟𝑒</m:t>
                                      </m:r>
                                    </m:sub>
                                  </m:sSub>
                                  <m:r>
                                    <a:rPr lang="en-US" sz="2000"/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/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000"/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/>
                                            <m:t>ℓ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000" i="1"/>
                                        <m:t>𝑝𝑟𝑒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/>
                                      </m:ctrlPr>
                                    </m:dPr>
                                    <m:e>
                                      <m:r>
                                        <a:rPr lang="en-US" sz="2000" i="1"/>
                                        <m:t>𝑤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/>
                                <m:t>2</m:t>
                              </m:r>
                            </m:sup>
                          </m:sSup>
                          <m:r>
                            <a:rPr lang="en-US" sz="2000"/>
                            <m:t>+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d>
                                <m:dPr>
                                  <m:begChr m:val="∥"/>
                                  <m:endChr m:val="∥"/>
                                  <m:ctrlPr>
                                    <a:rPr lang="en-US" sz="2000" i="1"/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/>
                                      </m:ctrlPr>
                                    </m:sSupPr>
                                    <m:e>
                                      <m:r>
                                        <a:rPr lang="en-US" sz="2000" i="1"/>
                                        <m:t>𝜍</m:t>
                                      </m:r>
                                    </m:e>
                                    <m:sup>
                                      <m:r>
                                        <a:rPr lang="en-US" sz="2000"/>
                                        <m:t>1/2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2000" i="1"/>
                                      </m:ctrlPr>
                                    </m:sSubSupPr>
                                    <m:e>
                                      <m:r>
                                        <a:rPr lang="en-US" sz="2000" i="1"/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sz="2000"/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2000"/>
                                        <m:t>⊤</m:t>
                                      </m:r>
                                    </m:sup>
                                  </m:sSubSup>
                                  <m:r>
                                    <a:rPr lang="en-US" sz="2000" i="1"/>
                                    <m:t>𝑤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/>
                                <m:t>2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en-US" sz="2000" dirty="0"/>
              </a:p>
              <a:p>
                <a:r>
                  <a:rPr lang="en-US" sz="2000" dirty="0"/>
                  <a:t>The second term is a small regularization term that makes the quadratic-programming matrix positive definite.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959F486-3D0E-46E9-4C14-38857A034A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821" y="1160606"/>
                <a:ext cx="10515600" cy="5697393"/>
              </a:xfrm>
              <a:blipFill>
                <a:blip r:embed="rId3"/>
                <a:stretch>
                  <a:fillRect l="-603" t="-1114" r="-965" b="-1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3">
            <a:extLst>
              <a:ext uri="{FF2B5EF4-FFF2-40B4-BE49-F238E27FC236}">
                <a16:creationId xmlns:a16="http://schemas.microsoft.com/office/drawing/2014/main" id="{F4FAC199-D470-38A9-4DF3-9224461A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51"/>
            <a:ext cx="10515600" cy="1012453"/>
          </a:xfrm>
        </p:spPr>
        <p:txBody>
          <a:bodyPr>
            <a:normAutofit/>
          </a:bodyPr>
          <a:lstStyle/>
          <a:p>
            <a:r>
              <a:rPr lang="en-US" sz="4000" dirty="0"/>
              <a:t>Second Stage: Estimate Weights</a:t>
            </a:r>
          </a:p>
        </p:txBody>
      </p:sp>
    </p:spTree>
    <p:extLst>
      <p:ext uri="{BB962C8B-B14F-4D97-AF65-F5344CB8AC3E}">
        <p14:creationId xmlns:p14="http://schemas.microsoft.com/office/powerpoint/2010/main" val="3469117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5765-1F10-A422-86C5-F6AB291A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Choose 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5B5822-AD25-4A69-A29C-BDA33DFFA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192" y="1292986"/>
            <a:ext cx="6198920" cy="38743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254224-5619-D97A-2250-7453D37AE33A}"/>
              </a:ext>
            </a:extLst>
          </p:cNvPr>
          <p:cNvSpPr txBox="1"/>
          <p:nvPr/>
        </p:nvSpPr>
        <p:spPr>
          <a:xfrm>
            <a:off x="749877" y="5565014"/>
            <a:ext cx="993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SHC method tends to favor a smaller n to ensure lower potential bias in finite samples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11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0EC88-A02B-B774-4E45-B8F8F7C43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Determination of 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DF7F5F-ACEE-119B-5480-0D743BDA4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4096" y="1825625"/>
            <a:ext cx="77838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032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C4E8E-05B5-85DB-2F18-4CC7412C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Parsimonious Donor Pool: Stepwise-matching procedure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7BE78-8DCA-4385-FBB1-694FE624C4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34284" y="1825624"/>
            <a:ext cx="3247116" cy="435133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39CA20-234C-1F1F-F62A-7C8935027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79720" y="1825625"/>
            <a:ext cx="5181600" cy="4351338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10CB4-2E7F-5920-2173-BC7C98DD7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394" y="1954420"/>
            <a:ext cx="8556077" cy="380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26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8A0E15-7AE2-A0CB-8A53-64780CE20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65" y="0"/>
            <a:ext cx="48386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9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2F3F-AF39-C0A8-7919-65BEB8678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A476-B84A-81D6-BE42-F8B5AB7F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Sentinel 1 and Sentinel 2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C7CD9-79B1-AA7B-B250-2454CDD59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P01–P10: </a:t>
            </a:r>
            <a:r>
              <a:rPr lang="en-US" dirty="0"/>
              <a:t>Nov 2023–Aug 2024, pre-Hurricane periods</a:t>
            </a:r>
          </a:p>
          <a:p>
            <a:pPr lvl="0"/>
            <a:r>
              <a:rPr lang="en-US" b="1" dirty="0"/>
              <a:t>P11: </a:t>
            </a:r>
            <a:r>
              <a:rPr lang="en-US" dirty="0"/>
              <a:t>Sep 2024, hurricane / transition month — excluded</a:t>
            </a:r>
          </a:p>
          <a:p>
            <a:pPr lvl="0"/>
            <a:r>
              <a:rPr lang="en-US" b="1" dirty="0"/>
              <a:t>P12–P21: </a:t>
            </a:r>
            <a:r>
              <a:rPr lang="en-US" dirty="0"/>
              <a:t>Oct 2024–Jul 2025, post-Hurricane periods</a:t>
            </a:r>
          </a:p>
          <a:p>
            <a:pPr lvl="0"/>
            <a:r>
              <a:rPr lang="en-US" dirty="0"/>
              <a:t>Sentinel 1: Treatment sites 1-15</a:t>
            </a:r>
          </a:p>
          <a:p>
            <a:pPr lvl="0"/>
            <a:r>
              <a:rPr lang="en-US" dirty="0"/>
              <a:t>Sentinel 2: Treatment sites 15-27</a:t>
            </a:r>
          </a:p>
          <a:p>
            <a:r>
              <a:rPr lang="en-US" dirty="0"/>
              <a:t>Number of historical donor blocks:  N = T</a:t>
            </a:r>
            <a:r>
              <a:rPr lang="en-US" baseline="-25000" dirty="0"/>
              <a:t>0</a:t>
            </a:r>
            <a:r>
              <a:rPr lang="en-US" dirty="0"/>
              <a:t> - m – (n – 1); T</a:t>
            </a:r>
            <a:r>
              <a:rPr lang="en-US" baseline="-25000" dirty="0"/>
              <a:t>0</a:t>
            </a:r>
            <a:r>
              <a:rPr lang="en-US" dirty="0"/>
              <a:t>=10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207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8A7318-3C7B-F629-0A55-D6D083B3B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9" y="186151"/>
            <a:ext cx="9994745" cy="66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12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FB0902-D69F-126B-8206-11661D234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73" y="162048"/>
            <a:ext cx="9800854" cy="653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569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7DEEFD1-D0DC-48AC-939C-C53B8781F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052911"/>
              </p:ext>
            </p:extLst>
          </p:nvPr>
        </p:nvGraphicFramePr>
        <p:xfrm>
          <a:off x="128649" y="1211283"/>
          <a:ext cx="11934701" cy="5260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025">
                  <a:extLst>
                    <a:ext uri="{9D8B030D-6E8A-4147-A177-3AD203B41FA5}">
                      <a16:colId xmlns:a16="http://schemas.microsoft.com/office/drawing/2014/main" val="417265741"/>
                    </a:ext>
                  </a:extLst>
                </a:gridCol>
                <a:gridCol w="1241412">
                  <a:extLst>
                    <a:ext uri="{9D8B030D-6E8A-4147-A177-3AD203B41FA5}">
                      <a16:colId xmlns:a16="http://schemas.microsoft.com/office/drawing/2014/main" val="743263153"/>
                    </a:ext>
                  </a:extLst>
                </a:gridCol>
                <a:gridCol w="1241412">
                  <a:extLst>
                    <a:ext uri="{9D8B030D-6E8A-4147-A177-3AD203B41FA5}">
                      <a16:colId xmlns:a16="http://schemas.microsoft.com/office/drawing/2014/main" val="3439186455"/>
                    </a:ext>
                  </a:extLst>
                </a:gridCol>
                <a:gridCol w="1105423">
                  <a:extLst>
                    <a:ext uri="{9D8B030D-6E8A-4147-A177-3AD203B41FA5}">
                      <a16:colId xmlns:a16="http://schemas.microsoft.com/office/drawing/2014/main" val="248873383"/>
                    </a:ext>
                  </a:extLst>
                </a:gridCol>
                <a:gridCol w="868015">
                  <a:extLst>
                    <a:ext uri="{9D8B030D-6E8A-4147-A177-3AD203B41FA5}">
                      <a16:colId xmlns:a16="http://schemas.microsoft.com/office/drawing/2014/main" val="250003741"/>
                    </a:ext>
                  </a:extLst>
                </a:gridCol>
                <a:gridCol w="1160740">
                  <a:extLst>
                    <a:ext uri="{9D8B030D-6E8A-4147-A177-3AD203B41FA5}">
                      <a16:colId xmlns:a16="http://schemas.microsoft.com/office/drawing/2014/main" val="1435076595"/>
                    </a:ext>
                  </a:extLst>
                </a:gridCol>
                <a:gridCol w="1494954">
                  <a:extLst>
                    <a:ext uri="{9D8B030D-6E8A-4147-A177-3AD203B41FA5}">
                      <a16:colId xmlns:a16="http://schemas.microsoft.com/office/drawing/2014/main" val="2614699348"/>
                    </a:ext>
                  </a:extLst>
                </a:gridCol>
                <a:gridCol w="1972073">
                  <a:extLst>
                    <a:ext uri="{9D8B030D-6E8A-4147-A177-3AD203B41FA5}">
                      <a16:colId xmlns:a16="http://schemas.microsoft.com/office/drawing/2014/main" val="1241601621"/>
                    </a:ext>
                  </a:extLst>
                </a:gridCol>
                <a:gridCol w="844966">
                  <a:extLst>
                    <a:ext uri="{9D8B030D-6E8A-4147-A177-3AD203B41FA5}">
                      <a16:colId xmlns:a16="http://schemas.microsoft.com/office/drawing/2014/main" val="3220995313"/>
                    </a:ext>
                  </a:extLst>
                </a:gridCol>
                <a:gridCol w="1273681">
                  <a:extLst>
                    <a:ext uri="{9D8B030D-6E8A-4147-A177-3AD203B41FA5}">
                      <a16:colId xmlns:a16="http://schemas.microsoft.com/office/drawing/2014/main" val="2734012178"/>
                    </a:ext>
                  </a:extLst>
                </a:gridCol>
              </a:tblGrid>
              <a:tr h="869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Step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Candidate Donor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Candidate Matching Block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Selected Before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Trial Donor Pool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Trial MSE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Improvement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Trial Weights (D1,D2,D3,D4,D5)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Best in Step?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Accepted?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1264224602"/>
                  </a:ext>
                </a:extLst>
              </a:tr>
              <a:tr h="37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D1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P01–P04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None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3.935249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(1, 0, 0, 0, 0)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3944082000"/>
                  </a:ext>
                </a:extLst>
              </a:tr>
              <a:tr h="37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D2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P02–P05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None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2.665662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(0, 1, 0, 0, 0)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4285389972"/>
                  </a:ext>
                </a:extLst>
              </a:tr>
              <a:tr h="37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D3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P03–P06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None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D3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1.739716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(0, 0, 1, 0, 0)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1530627471"/>
                  </a:ext>
                </a:extLst>
              </a:tr>
              <a:tr h="37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D4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P04–P07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None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D4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0.996913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—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(0, 0, 0, 1, 0)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4172814869"/>
                  </a:ext>
                </a:extLst>
              </a:tr>
              <a:tr h="379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1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D5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P05–P08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None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D5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0.433386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—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(0, 0, 0, 0, 1)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Yes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Yes</a:t>
                      </a:r>
                    </a:p>
                  </a:txBody>
                  <a:tcPr marL="73072" marR="73072" marT="36536" marB="36536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270577"/>
                  </a:ext>
                </a:extLst>
              </a:tr>
              <a:tr h="624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D1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P01–P04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 + D1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0.433386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0.000000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(0, 0, 0, 0, 1)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Yes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992783195"/>
                  </a:ext>
                </a:extLst>
              </a:tr>
              <a:tr h="624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P02–P05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 + D2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0.433386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0.000000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(0, 0, 0, 0, 1)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1394221362"/>
                  </a:ext>
                </a:extLst>
              </a:tr>
              <a:tr h="624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D3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P03–P06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 + D3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0.433386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0.000000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(0, 0, 0, 0, 1)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1270879814"/>
                  </a:ext>
                </a:extLst>
              </a:tr>
              <a:tr h="624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2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D4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P04–P07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D5 + D4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0.433386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0.000000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(0, 0, 0, 0, 1)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/>
                        <a:t>No</a:t>
                      </a:r>
                    </a:p>
                  </a:txBody>
                  <a:tcPr marL="73072" marR="73072" marT="36536" marB="365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/>
                        <a:t>No</a:t>
                      </a:r>
                    </a:p>
                  </a:txBody>
                  <a:tcPr marL="73072" marR="73072" marT="36536" marB="36536" anchor="ctr"/>
                </a:tc>
                <a:extLst>
                  <a:ext uri="{0D108BD9-81ED-4DB2-BD59-A6C34878D82A}">
                    <a16:rowId xmlns:a16="http://schemas.microsoft.com/office/drawing/2014/main" val="359454475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5017E53-F3FB-6B79-E1AB-0D915F610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68242"/>
            <a:ext cx="11792197" cy="941161"/>
          </a:xfrm>
        </p:spPr>
        <p:txBody>
          <a:bodyPr/>
          <a:lstStyle/>
          <a:p>
            <a:r>
              <a:rPr lang="en-US" dirty="0"/>
              <a:t>Steps of choosing donor pool for treatment site 15</a:t>
            </a:r>
          </a:p>
        </p:txBody>
      </p:sp>
    </p:spTree>
    <p:extLst>
      <p:ext uri="{BB962C8B-B14F-4D97-AF65-F5344CB8AC3E}">
        <p14:creationId xmlns:p14="http://schemas.microsoft.com/office/powerpoint/2010/main" val="4120943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EC7497-8233-C1B1-496F-442662841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dirty="0"/>
              <a:t>Standardized in Step 9 and Step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923EED1-85BE-E643-2EAC-65C31D80BB46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  <p:extLst>
                  <p:ext uri="{D42A27DB-BD31-4B8C-83A1-F6EECF244321}">
                    <p14:modId xmlns:p14="http://schemas.microsoft.com/office/powerpoint/2010/main" val="1934924607"/>
                  </p:ext>
                </p:extLst>
              </p:nvPr>
            </p:nvGraphicFramePr>
            <p:xfrm>
              <a:off x="838200" y="1845425"/>
              <a:ext cx="10515599" cy="4626627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2960099">
                      <a:extLst>
                        <a:ext uri="{9D8B030D-6E8A-4147-A177-3AD203B41FA5}">
                          <a16:colId xmlns:a16="http://schemas.microsoft.com/office/drawing/2014/main" val="1655123915"/>
                        </a:ext>
                      </a:extLst>
                    </a:gridCol>
                    <a:gridCol w="3607406">
                      <a:extLst>
                        <a:ext uri="{9D8B030D-6E8A-4147-A177-3AD203B41FA5}">
                          <a16:colId xmlns:a16="http://schemas.microsoft.com/office/drawing/2014/main" val="4030499330"/>
                        </a:ext>
                      </a:extLst>
                    </a:gridCol>
                    <a:gridCol w="3948094">
                      <a:extLst>
                        <a:ext uri="{9D8B030D-6E8A-4147-A177-3AD203B41FA5}">
                          <a16:colId xmlns:a16="http://schemas.microsoft.com/office/drawing/2014/main" val="4022383400"/>
                        </a:ext>
                      </a:extLst>
                    </a:gridCol>
                  </a:tblGrid>
                  <a:tr h="5394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2000" b="0" cap="none" spc="6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b="0" cap="none" spc="60">
                              <a:solidFill>
                                <a:schemeClr val="bg1"/>
                              </a:solidFill>
                            </a:rPr>
                            <a:t>Step 9: latent fit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b="0" cap="none" spc="60">
                              <a:solidFill>
                                <a:schemeClr val="bg1"/>
                              </a:solidFill>
                            </a:rPr>
                            <a:t>Step 10: outcome fit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3497750"/>
                      </a:ext>
                    </a:extLst>
                  </a:tr>
                  <a:tr h="53259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Variable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800" i="1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80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 cap="none" spc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ℓ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cap="none" spc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4670672"/>
                      </a:ext>
                    </a:extLst>
                  </a:tr>
                  <a:tr h="7777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Standardization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Z-score the latent series first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Do not z-score raw outcome directly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122398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Scale used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Latent SD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Outcome variance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4262982"/>
                      </a:ext>
                    </a:extLst>
                  </a:tr>
                  <a:tr h="7777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Band metric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MSE of standardized latent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Raw MSE / pre-period outcome variance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214645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Joint metric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Average across bands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Average across bands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798344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Main scale period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P01–P10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P01–P10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3341419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Matching evaluated on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P07–P10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tx1"/>
                              </a:solidFill>
                            </a:rPr>
                            <a:t>P07–P10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44290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D923EED1-85BE-E643-2EAC-65C31D80BB46}"/>
                  </a:ext>
                </a:extLst>
              </p:cNvPr>
              <p:cNvGraphicFramePr>
                <a:graphicFrameLocks noGrp="1"/>
              </p:cNvGraphicFramePr>
              <p:nvPr>
                <p:ph idx="4294967295"/>
                <p:extLst>
                  <p:ext uri="{D42A27DB-BD31-4B8C-83A1-F6EECF244321}">
                    <p14:modId xmlns:p14="http://schemas.microsoft.com/office/powerpoint/2010/main" val="1934924607"/>
                  </p:ext>
                </p:extLst>
              </p:nvPr>
            </p:nvGraphicFramePr>
            <p:xfrm>
              <a:off x="838200" y="1845425"/>
              <a:ext cx="10515599" cy="4626627"/>
            </p:xfrm>
            <a:graphic>
              <a:graphicData uri="http://schemas.openxmlformats.org/drawingml/2006/table">
                <a:tbl>
                  <a:tblPr firstRow="1" bandRow="1">
                    <a:noFill/>
                    <a:tableStyleId>{5C22544A-7EE6-4342-B048-85BDC9FD1C3A}</a:tableStyleId>
                  </a:tblPr>
                  <a:tblGrid>
                    <a:gridCol w="2960099">
                      <a:extLst>
                        <a:ext uri="{9D8B030D-6E8A-4147-A177-3AD203B41FA5}">
                          <a16:colId xmlns:a16="http://schemas.microsoft.com/office/drawing/2014/main" val="1655123915"/>
                        </a:ext>
                      </a:extLst>
                    </a:gridCol>
                    <a:gridCol w="3607406">
                      <a:extLst>
                        <a:ext uri="{9D8B030D-6E8A-4147-A177-3AD203B41FA5}">
                          <a16:colId xmlns:a16="http://schemas.microsoft.com/office/drawing/2014/main" val="4030499330"/>
                        </a:ext>
                      </a:extLst>
                    </a:gridCol>
                    <a:gridCol w="3948094">
                      <a:extLst>
                        <a:ext uri="{9D8B030D-6E8A-4147-A177-3AD203B41FA5}">
                          <a16:colId xmlns:a16="http://schemas.microsoft.com/office/drawing/2014/main" val="4022383400"/>
                        </a:ext>
                      </a:extLst>
                    </a:gridCol>
                  </a:tblGrid>
                  <a:tr h="5394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US" sz="2000" b="0" cap="none" spc="6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b="0" cap="none" spc="60">
                              <a:solidFill>
                                <a:schemeClr val="bg1"/>
                              </a:solidFill>
                            </a:rPr>
                            <a:t>Step 9: latent fit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000" b="0" cap="none" spc="60">
                              <a:solidFill>
                                <a:schemeClr val="bg1"/>
                              </a:solidFill>
                            </a:rPr>
                            <a:t>Step 10: outcome fit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noFill/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accent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3497750"/>
                      </a:ext>
                    </a:extLst>
                  </a:tr>
                  <a:tr h="53259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Variable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-82394" t="-104762" r="-109859" b="-680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38100" cmpd="sng">
                          <a:noFill/>
                        </a:lnT>
                        <a:lnB w="12700" cap="flat" cmpd="sng" algn="ctr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-166559" t="-104762" r="-322" b="-680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4670672"/>
                      </a:ext>
                    </a:extLst>
                  </a:tr>
                  <a:tr h="7777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Standardization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Z-score the latent series first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Do not z-score raw outcome directly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7122398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Scale used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Latent SD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Outcome variance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4262982"/>
                      </a:ext>
                    </a:extLst>
                  </a:tr>
                  <a:tr h="7777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Band metric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MSE of standardized latent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Raw MSE / pre-period outcome variance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83214645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Joint metric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Average across bands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Average across bands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ap="flat" cmpd="sng" algn="ctr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3798344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Main scale period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P01–P10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P01–P10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3341419"/>
                      </a:ext>
                    </a:extLst>
                  </a:tr>
                  <a:tr h="49974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Matching evaluated on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>
                              <a:solidFill>
                                <a:schemeClr val="tx1"/>
                              </a:solidFill>
                            </a:rPr>
                            <a:t>P07–P10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800" cap="none" spc="0" dirty="0">
                              <a:solidFill>
                                <a:schemeClr val="tx1"/>
                              </a:solidFill>
                            </a:rPr>
                            <a:t>P07–P10</a:t>
                          </a:r>
                        </a:p>
                      </a:txBody>
                      <a:tcPr marL="105557" marR="105557" marT="114621" marB="52779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944290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4465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0438AE-3330-2477-89F7-B9C14FCD3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776842"/>
              </p:ext>
            </p:extLst>
          </p:nvPr>
        </p:nvGraphicFramePr>
        <p:xfrm>
          <a:off x="180385" y="134702"/>
          <a:ext cx="11831230" cy="6588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6056">
                  <a:extLst>
                    <a:ext uri="{9D8B030D-6E8A-4147-A177-3AD203B41FA5}">
                      <a16:colId xmlns:a16="http://schemas.microsoft.com/office/drawing/2014/main" val="1483346992"/>
                    </a:ext>
                  </a:extLst>
                </a:gridCol>
                <a:gridCol w="1015613">
                  <a:extLst>
                    <a:ext uri="{9D8B030D-6E8A-4147-A177-3AD203B41FA5}">
                      <a16:colId xmlns:a16="http://schemas.microsoft.com/office/drawing/2014/main" val="1573209224"/>
                    </a:ext>
                  </a:extLst>
                </a:gridCol>
                <a:gridCol w="1416416">
                  <a:extLst>
                    <a:ext uri="{9D8B030D-6E8A-4147-A177-3AD203B41FA5}">
                      <a16:colId xmlns:a16="http://schemas.microsoft.com/office/drawing/2014/main" val="141084008"/>
                    </a:ext>
                  </a:extLst>
                </a:gridCol>
                <a:gridCol w="2182788">
                  <a:extLst>
                    <a:ext uri="{9D8B030D-6E8A-4147-A177-3AD203B41FA5}">
                      <a16:colId xmlns:a16="http://schemas.microsoft.com/office/drawing/2014/main" val="3033067171"/>
                    </a:ext>
                  </a:extLst>
                </a:gridCol>
                <a:gridCol w="1676278">
                  <a:extLst>
                    <a:ext uri="{9D8B030D-6E8A-4147-A177-3AD203B41FA5}">
                      <a16:colId xmlns:a16="http://schemas.microsoft.com/office/drawing/2014/main" val="1432350431"/>
                    </a:ext>
                  </a:extLst>
                </a:gridCol>
                <a:gridCol w="768963">
                  <a:extLst>
                    <a:ext uri="{9D8B030D-6E8A-4147-A177-3AD203B41FA5}">
                      <a16:colId xmlns:a16="http://schemas.microsoft.com/office/drawing/2014/main" val="2445593977"/>
                    </a:ext>
                  </a:extLst>
                </a:gridCol>
                <a:gridCol w="1480279">
                  <a:extLst>
                    <a:ext uri="{9D8B030D-6E8A-4147-A177-3AD203B41FA5}">
                      <a16:colId xmlns:a16="http://schemas.microsoft.com/office/drawing/2014/main" val="3383767105"/>
                    </a:ext>
                  </a:extLst>
                </a:gridCol>
                <a:gridCol w="1834837">
                  <a:extLst>
                    <a:ext uri="{9D8B030D-6E8A-4147-A177-3AD203B41FA5}">
                      <a16:colId xmlns:a16="http://schemas.microsoft.com/office/drawing/2014/main" val="1833933665"/>
                    </a:ext>
                  </a:extLst>
                </a:gridCol>
              </a:tblGrid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Treatment Site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Sensor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Selected Donor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Historical Matching Block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Pseudo-Post Block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Weight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Joint Latent MSE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Joint Outcome NMSE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2718380581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treatment_0015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0.4334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0.4933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2844741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treatment_0016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0.4354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0.7224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2990295337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treatment_0017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0.4385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0.7958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4196087184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0.4416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0.9673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1762314223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treatment_0019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0.4430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1.1622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4097053153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treatment_0020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0.4415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0.7728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79657159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treatment_0021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0.4343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0.4609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467381354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treatment_0022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0.4360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0.6252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1399207685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treatment_0023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0.4937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1.9815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1258121004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treatment_0024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0.4385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1.1956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201745586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treatment_0025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0.4426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1.0829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2580863041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treatment_0027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0.4462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1.1727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2042590695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0.7523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0.7770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8279589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0.5008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1.6125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128967087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0.6673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1.8945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568367848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treatment_0004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0.6831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1.9958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722018772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0.4948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1.8098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504539026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treatment_0006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0.5577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2.2470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4091790121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treatment_0007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0.6003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2.6470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4283543207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0.7037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2.0231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1660730842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treatment_0009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0.7584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2.0054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2380273830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0.4953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2.1068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758041373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treatment_0011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0.7960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2.1144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1239965157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0.6470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2.3582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649322439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treatment_0013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0.9039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2.2998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374225630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treatment_0014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0.6944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2.0098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2148531826"/>
                  </a:ext>
                </a:extLst>
              </a:tr>
              <a:tr h="2353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treatment_0015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Sentinel-2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D5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P05–P06–P07–P08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P09–P10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1.0000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0.6380</a:t>
                      </a:r>
                    </a:p>
                  </a:txBody>
                  <a:tcPr marL="20634" marR="20634" marT="10317" marB="1031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1.8468</a:t>
                      </a:r>
                    </a:p>
                  </a:txBody>
                  <a:tcPr marL="20634" marR="20634" marT="10317" marB="10317" anchor="ctr"/>
                </a:tc>
                <a:extLst>
                  <a:ext uri="{0D108BD9-81ED-4DB2-BD59-A6C34878D82A}">
                    <a16:rowId xmlns:a16="http://schemas.microsoft.com/office/drawing/2014/main" val="393583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2416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10A179A-7EDA-A93F-9997-C263F47316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495376"/>
                  </p:ext>
                </p:extLst>
              </p:nvPr>
            </p:nvGraphicFramePr>
            <p:xfrm>
              <a:off x="643466" y="830244"/>
              <a:ext cx="10905068" cy="54825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627">
                      <a:extLst>
                        <a:ext uri="{9D8B030D-6E8A-4147-A177-3AD203B41FA5}">
                          <a16:colId xmlns:a16="http://schemas.microsoft.com/office/drawing/2014/main" val="3946401342"/>
                        </a:ext>
                      </a:extLst>
                    </a:gridCol>
                    <a:gridCol w="1826028">
                      <a:extLst>
                        <a:ext uri="{9D8B030D-6E8A-4147-A177-3AD203B41FA5}">
                          <a16:colId xmlns:a16="http://schemas.microsoft.com/office/drawing/2014/main" val="1510369255"/>
                        </a:ext>
                      </a:extLst>
                    </a:gridCol>
                    <a:gridCol w="1752100">
                      <a:extLst>
                        <a:ext uri="{9D8B030D-6E8A-4147-A177-3AD203B41FA5}">
                          <a16:colId xmlns:a16="http://schemas.microsoft.com/office/drawing/2014/main" val="3393514013"/>
                        </a:ext>
                      </a:extLst>
                    </a:gridCol>
                    <a:gridCol w="1382459">
                      <a:extLst>
                        <a:ext uri="{9D8B030D-6E8A-4147-A177-3AD203B41FA5}">
                          <a16:colId xmlns:a16="http://schemas.microsoft.com/office/drawing/2014/main" val="3026818408"/>
                        </a:ext>
                      </a:extLst>
                    </a:gridCol>
                    <a:gridCol w="1936921">
                      <a:extLst>
                        <a:ext uri="{9D8B030D-6E8A-4147-A177-3AD203B41FA5}">
                          <a16:colId xmlns:a16="http://schemas.microsoft.com/office/drawing/2014/main" val="3724239667"/>
                        </a:ext>
                      </a:extLst>
                    </a:gridCol>
                    <a:gridCol w="1826028">
                      <a:extLst>
                        <a:ext uri="{9D8B030D-6E8A-4147-A177-3AD203B41FA5}">
                          <a16:colId xmlns:a16="http://schemas.microsoft.com/office/drawing/2014/main" val="2491007844"/>
                        </a:ext>
                      </a:extLst>
                    </a:gridCol>
                    <a:gridCol w="1437905">
                      <a:extLst>
                        <a:ext uri="{9D8B030D-6E8A-4147-A177-3AD203B41FA5}">
                          <a16:colId xmlns:a16="http://schemas.microsoft.com/office/drawing/2014/main" val="1153161064"/>
                        </a:ext>
                      </a:extLst>
                    </a:gridCol>
                  </a:tblGrid>
                  <a:tr h="138393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60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600" dirty="0"/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Treated pre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# donors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Most recent donor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Donor pre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Pseudo-post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Step-1 best in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1218605978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2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7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D7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P07–P08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588251020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3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P08–P10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6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D6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P06–P08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3836172060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4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P07–P10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5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D5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P05–P08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845721376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5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P06–P10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4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D4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P04–P08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2399430441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6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P05–P10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3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D3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P03–P08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1264559853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7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P04–P10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2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D2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P02–P08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624952252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P03–P10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1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D1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P01–P08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812966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10A179A-7EDA-A93F-9997-C263F47316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7495376"/>
                  </p:ext>
                </p:extLst>
              </p:nvPr>
            </p:nvGraphicFramePr>
            <p:xfrm>
              <a:off x="643466" y="830244"/>
              <a:ext cx="10905068" cy="548252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3627">
                      <a:extLst>
                        <a:ext uri="{9D8B030D-6E8A-4147-A177-3AD203B41FA5}">
                          <a16:colId xmlns:a16="http://schemas.microsoft.com/office/drawing/2014/main" val="3946401342"/>
                        </a:ext>
                      </a:extLst>
                    </a:gridCol>
                    <a:gridCol w="1826028">
                      <a:extLst>
                        <a:ext uri="{9D8B030D-6E8A-4147-A177-3AD203B41FA5}">
                          <a16:colId xmlns:a16="http://schemas.microsoft.com/office/drawing/2014/main" val="1510369255"/>
                        </a:ext>
                      </a:extLst>
                    </a:gridCol>
                    <a:gridCol w="1752100">
                      <a:extLst>
                        <a:ext uri="{9D8B030D-6E8A-4147-A177-3AD203B41FA5}">
                          <a16:colId xmlns:a16="http://schemas.microsoft.com/office/drawing/2014/main" val="3393514013"/>
                        </a:ext>
                      </a:extLst>
                    </a:gridCol>
                    <a:gridCol w="1382459">
                      <a:extLst>
                        <a:ext uri="{9D8B030D-6E8A-4147-A177-3AD203B41FA5}">
                          <a16:colId xmlns:a16="http://schemas.microsoft.com/office/drawing/2014/main" val="3026818408"/>
                        </a:ext>
                      </a:extLst>
                    </a:gridCol>
                    <a:gridCol w="1936921">
                      <a:extLst>
                        <a:ext uri="{9D8B030D-6E8A-4147-A177-3AD203B41FA5}">
                          <a16:colId xmlns:a16="http://schemas.microsoft.com/office/drawing/2014/main" val="3724239667"/>
                        </a:ext>
                      </a:extLst>
                    </a:gridCol>
                    <a:gridCol w="1826028">
                      <a:extLst>
                        <a:ext uri="{9D8B030D-6E8A-4147-A177-3AD203B41FA5}">
                          <a16:colId xmlns:a16="http://schemas.microsoft.com/office/drawing/2014/main" val="2491007844"/>
                        </a:ext>
                      </a:extLst>
                    </a:gridCol>
                    <a:gridCol w="1437905">
                      <a:extLst>
                        <a:ext uri="{9D8B030D-6E8A-4147-A177-3AD203B41FA5}">
                          <a16:colId xmlns:a16="http://schemas.microsoft.com/office/drawing/2014/main" val="1153161064"/>
                        </a:ext>
                      </a:extLst>
                    </a:gridCol>
                  </a:tblGrid>
                  <a:tr h="13839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3071" marR="133071" marT="66535" marB="66535" anchor="ctr">
                        <a:blipFill>
                          <a:blip r:embed="rId3"/>
                          <a:stretch>
                            <a:fillRect l="-1695" t="-917" r="-1361017" b="-3036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Treated pre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# donors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Most recent donor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Donor pre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Pseudo-post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Step-1 best in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1218605978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2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7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D7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P07–P08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588251020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3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P08–P10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6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D6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P06–P08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3836172060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4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P07–P10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5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D5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P05–P08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845721376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5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P06–P10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4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D4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P04–P08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2399430441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6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P05–P10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3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D3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P03–P08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1264559853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7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P04–P10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2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D2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P02–P08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624952252"/>
                      </a:ext>
                    </a:extLst>
                  </a:tr>
                  <a:tr h="58551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P03–P10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1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D1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/>
                            <a:t>P01–P08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P09–P10</a:t>
                          </a:r>
                        </a:p>
                      </a:txBody>
                      <a:tcPr marL="133071" marR="133071" marT="66535" marB="6653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600" dirty="0"/>
                            <a:t>27/27</a:t>
                          </a:r>
                        </a:p>
                      </a:txBody>
                      <a:tcPr marL="133071" marR="133071" marT="66535" marB="66535" anchor="ctr"/>
                    </a:tc>
                    <a:extLst>
                      <a:ext uri="{0D108BD9-81ED-4DB2-BD59-A6C34878D82A}">
                        <a16:rowId xmlns:a16="http://schemas.microsoft.com/office/drawing/2014/main" val="812966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7B4E2A-77AE-A5F8-7973-9F8B083FC475}"/>
                  </a:ext>
                </a:extLst>
              </p:cNvPr>
              <p:cNvSpPr txBox="1"/>
              <p:nvPr/>
            </p:nvSpPr>
            <p:spPr>
              <a:xfrm>
                <a:off x="2312720" y="6414352"/>
                <a:ext cx="6097978" cy="4436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1800" b="1" i="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US" sz="1800" b="1" i="0"/>
                            <m:t>For every </m:t>
                          </m:r>
                          <m:r>
                            <a:rPr lang="en-US" sz="18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sz="1800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sz="1800" b="1" i="0"/>
                            <m:t> the most recent feasible historical donor is the best single donor</m:t>
                          </m:r>
                        </m:e>
                      </m:borderBox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7B4E2A-77AE-A5F8-7973-9F8B083FC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720" y="6414352"/>
                <a:ext cx="6097978" cy="443648"/>
              </a:xfrm>
              <a:prstGeom prst="rect">
                <a:avLst/>
              </a:prstGeom>
              <a:blipFill>
                <a:blip r:embed="rId4"/>
                <a:stretch>
                  <a:fillRect r="-34440" b="-5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CB19BA7-22F9-835F-754D-D39C0DFAC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-201881"/>
            <a:ext cx="10515600" cy="1325563"/>
          </a:xfrm>
        </p:spPr>
        <p:txBody>
          <a:bodyPr/>
          <a:lstStyle/>
          <a:p>
            <a:r>
              <a:rPr lang="en-US" dirty="0"/>
              <a:t>Choose Different m</a:t>
            </a:r>
          </a:p>
        </p:txBody>
      </p:sp>
    </p:spTree>
    <p:extLst>
      <p:ext uri="{BB962C8B-B14F-4D97-AF65-F5344CB8AC3E}">
        <p14:creationId xmlns:p14="http://schemas.microsoft.com/office/powerpoint/2010/main" val="3677476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0DBD633-E6F4-5497-01BA-590D29B95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2448481"/>
                  </p:ext>
                </p:extLst>
              </p:nvPr>
            </p:nvGraphicFramePr>
            <p:xfrm>
              <a:off x="463140" y="806500"/>
              <a:ext cx="10901546" cy="5989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5242">
                      <a:extLst>
                        <a:ext uri="{9D8B030D-6E8A-4147-A177-3AD203B41FA5}">
                          <a16:colId xmlns:a16="http://schemas.microsoft.com/office/drawing/2014/main" val="3486004691"/>
                        </a:ext>
                      </a:extLst>
                    </a:gridCol>
                    <a:gridCol w="1122802">
                      <a:extLst>
                        <a:ext uri="{9D8B030D-6E8A-4147-A177-3AD203B41FA5}">
                          <a16:colId xmlns:a16="http://schemas.microsoft.com/office/drawing/2014/main" val="3939060482"/>
                        </a:ext>
                      </a:extLst>
                    </a:gridCol>
                    <a:gridCol w="2063805">
                      <a:extLst>
                        <a:ext uri="{9D8B030D-6E8A-4147-A177-3AD203B41FA5}">
                          <a16:colId xmlns:a16="http://schemas.microsoft.com/office/drawing/2014/main" val="1239231467"/>
                        </a:ext>
                      </a:extLst>
                    </a:gridCol>
                    <a:gridCol w="2661439">
                      <a:extLst>
                        <a:ext uri="{9D8B030D-6E8A-4147-A177-3AD203B41FA5}">
                          <a16:colId xmlns:a16="http://schemas.microsoft.com/office/drawing/2014/main" val="1530978626"/>
                        </a:ext>
                      </a:extLst>
                    </a:gridCol>
                    <a:gridCol w="2002388">
                      <a:extLst>
                        <a:ext uri="{9D8B030D-6E8A-4147-A177-3AD203B41FA5}">
                          <a16:colId xmlns:a16="http://schemas.microsoft.com/office/drawing/2014/main" val="3229826241"/>
                        </a:ext>
                      </a:extLst>
                    </a:gridCol>
                    <a:gridCol w="1455870">
                      <a:extLst>
                        <a:ext uri="{9D8B030D-6E8A-4147-A177-3AD203B41FA5}">
                          <a16:colId xmlns:a16="http://schemas.microsoft.com/office/drawing/2014/main" val="3864434718"/>
                        </a:ext>
                      </a:extLst>
                    </a:gridCol>
                  </a:tblGrid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Treatment Site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Sensor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Largest Acceptable </a:t>
                          </a:r>
                          <a14:m>
                            <m:oMath xmlns:m="http://schemas.openxmlformats.org/officeDocument/2006/math">
                              <m:r>
                                <a:rPr lang="en-US" sz="13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sz="1300" dirty="0"/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MSE at Largest Acceptable </a:t>
                          </a:r>
                          <a14:m>
                            <m:oMath xmlns:m="http://schemas.openxmlformats.org/officeDocument/2006/math">
                              <m:r>
                                <a:rPr lang="en-US" sz="130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sz="1300"/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30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300" dirty="0"/>
                            <a:t> with Minimum MSE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Minimum MSE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6094359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0.4422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0.3252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019493529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0.4450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0.3716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755554353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0.4470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0.3181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83211957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0.4506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0.3163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553136994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treatment_0019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0.4518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0.3232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252824912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0.4517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0.3150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981482228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0.4406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0.3407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70449116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0.4441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0.3220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606207351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0.5041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0.3186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028638847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0.4466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0.3308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03936455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0.4513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0.3217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238481738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0.4576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0.3035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106066446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0.7124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0.6276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678677536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0.5008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0.5008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823663993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treatment_0003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0.6676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0.5827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876923009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0.6024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0.5977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001643030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0.4788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0.4788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028207275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0.5342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0.4778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1560799944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0.6151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0.3837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81343843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0.6653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0.6196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906170427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treatment_0009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0.7284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0.6309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728907468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0.4885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0.4126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499862731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0.7445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0.6797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698816346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0.6002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0.5515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722075899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0.8529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0.7394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240969570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0.6656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0.6165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204282003"/>
                      </a:ext>
                    </a:extLst>
                  </a:tr>
                  <a:tr h="20955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0.6146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0.5587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963875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0DBD633-E6F4-5497-01BA-590D29B95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2448481"/>
                  </p:ext>
                </p:extLst>
              </p:nvPr>
            </p:nvGraphicFramePr>
            <p:xfrm>
              <a:off x="463140" y="806500"/>
              <a:ext cx="10901546" cy="5989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95242">
                      <a:extLst>
                        <a:ext uri="{9D8B030D-6E8A-4147-A177-3AD203B41FA5}">
                          <a16:colId xmlns:a16="http://schemas.microsoft.com/office/drawing/2014/main" val="3486004691"/>
                        </a:ext>
                      </a:extLst>
                    </a:gridCol>
                    <a:gridCol w="1122802">
                      <a:extLst>
                        <a:ext uri="{9D8B030D-6E8A-4147-A177-3AD203B41FA5}">
                          <a16:colId xmlns:a16="http://schemas.microsoft.com/office/drawing/2014/main" val="3939060482"/>
                        </a:ext>
                      </a:extLst>
                    </a:gridCol>
                    <a:gridCol w="2063805">
                      <a:extLst>
                        <a:ext uri="{9D8B030D-6E8A-4147-A177-3AD203B41FA5}">
                          <a16:colId xmlns:a16="http://schemas.microsoft.com/office/drawing/2014/main" val="1239231467"/>
                        </a:ext>
                      </a:extLst>
                    </a:gridCol>
                    <a:gridCol w="2661439">
                      <a:extLst>
                        <a:ext uri="{9D8B030D-6E8A-4147-A177-3AD203B41FA5}">
                          <a16:colId xmlns:a16="http://schemas.microsoft.com/office/drawing/2014/main" val="1530978626"/>
                        </a:ext>
                      </a:extLst>
                    </a:gridCol>
                    <a:gridCol w="2002388">
                      <a:extLst>
                        <a:ext uri="{9D8B030D-6E8A-4147-A177-3AD203B41FA5}">
                          <a16:colId xmlns:a16="http://schemas.microsoft.com/office/drawing/2014/main" val="3229826241"/>
                        </a:ext>
                      </a:extLst>
                    </a:gridCol>
                    <a:gridCol w="1455870">
                      <a:extLst>
                        <a:ext uri="{9D8B030D-6E8A-4147-A177-3AD203B41FA5}">
                          <a16:colId xmlns:a16="http://schemas.microsoft.com/office/drawing/2014/main" val="3864434718"/>
                        </a:ext>
                      </a:extLst>
                    </a:gridCol>
                  </a:tblGrid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Treatment Site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Sensor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783" marR="15783" marT="7891" marB="7891" anchor="ctr">
                        <a:blipFill>
                          <a:blip r:embed="rId3"/>
                          <a:stretch>
                            <a:fillRect l="-131902" t="-17647" r="-297546" b="-27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783" marR="15783" marT="7891" marB="7891" anchor="ctr">
                        <a:blipFill>
                          <a:blip r:embed="rId3"/>
                          <a:stretch>
                            <a:fillRect l="-180000" t="-17647" r="-130952" b="-27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5783" marR="15783" marT="7891" marB="7891" anchor="ctr">
                        <a:blipFill>
                          <a:blip r:embed="rId3"/>
                          <a:stretch>
                            <a:fillRect l="-374522" t="-17647" r="-75159" b="-27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Minimum MSE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6094359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0.4422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0.3252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019493529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0.4450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0.3716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755554353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0.4470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0.3181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832119578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0.4506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0.3163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553136994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treatment_0019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0.4518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0.3232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252824912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0.4517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0.3150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981482228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0.4406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0.3407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70449116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0.4441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0.3220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606207351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0.5041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0.3186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028638847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0.4466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0.3308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03936455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0.4513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0.3217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238481738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treatment_0027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0.4576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0.3035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106066446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0.7124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0.6276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678677536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0.5008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0.5008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823663993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treatment_0003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0.6676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0.5827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876923009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0.6024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0.5977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001643030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0.4788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0.4788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028207275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0.5342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0.4778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1560799944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0.6151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0.3837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81343843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0.6653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0.6196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906170427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treatment_0009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0.7284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0.6309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728907468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treatment_0010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0.4885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0.4126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2499862731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treatment_0011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0.7445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0.6797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698816346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0.6002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0.5515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3722075899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treatment_0013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0.8529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0.7394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240969570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treatment_0014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0.6656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0.6165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204282003"/>
                      </a:ext>
                    </a:extLst>
                  </a:tr>
                  <a:tr h="2139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treatment_0015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Sentinel-2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8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0.6146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/>
                            <a:t>7</a:t>
                          </a:r>
                        </a:p>
                      </a:txBody>
                      <a:tcPr marL="15783" marR="15783" marT="7891" marB="7891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300" dirty="0"/>
                            <a:t>0.5587</a:t>
                          </a:r>
                        </a:p>
                      </a:txBody>
                      <a:tcPr marL="15783" marR="15783" marT="7891" marB="7891" anchor="ctr"/>
                    </a:tc>
                    <a:extLst>
                      <a:ext uri="{0D108BD9-81ED-4DB2-BD59-A6C34878D82A}">
                        <a16:rowId xmlns:a16="http://schemas.microsoft.com/office/drawing/2014/main" val="496387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62B8E7A-A606-5C4D-A2AB-CEB9446D9D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63138" y="-216765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Largest Acceptable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: always 8</a:t>
                </a:r>
              </a:p>
            </p:txBody>
          </p:sp>
        </mc:Choice>
        <mc:Fallback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62B8E7A-A606-5C4D-A2AB-CEB9446D9D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63138" y="-216765"/>
                <a:ext cx="10515600" cy="1325563"/>
              </a:xfrm>
              <a:blipFill>
                <a:blip r:embed="rId4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881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D04E-606E-D03C-90CB-7E377793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Sentinel 1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9D27-53FB-B0DC-CF37-336ACBE7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Hurricane</a:t>
            </a:r>
          </a:p>
          <a:p>
            <a:pPr lvl="1"/>
            <a:r>
              <a:rPr lang="en-US" dirty="0"/>
              <a:t>W01: Nov 3–Nov 9, 2023</a:t>
            </a:r>
          </a:p>
          <a:p>
            <a:pPr lvl="1"/>
            <a:r>
              <a:rPr lang="en-US" dirty="0"/>
              <a:t>W47: Sep 20–Sep 26, 2024</a:t>
            </a:r>
          </a:p>
          <a:p>
            <a:r>
              <a:rPr lang="en-US" dirty="0"/>
              <a:t>Number of historical donor blocks:  N = T0 - m – (n -1); T0=47</a:t>
            </a:r>
          </a:p>
          <a:p>
            <a:r>
              <a:rPr lang="en-US" dirty="0"/>
              <a:t>All 27 treatment sites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566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EC105C5-C853-5751-2D60-61951A5A17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1361158"/>
                  </p:ext>
                </p:extLst>
              </p:nvPr>
            </p:nvGraphicFramePr>
            <p:xfrm>
              <a:off x="651162" y="1104405"/>
              <a:ext cx="11057907" cy="5510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434">
                      <a:extLst>
                        <a:ext uri="{9D8B030D-6E8A-4147-A177-3AD203B41FA5}">
                          <a16:colId xmlns:a16="http://schemas.microsoft.com/office/drawing/2014/main" val="3429043268"/>
                        </a:ext>
                      </a:extLst>
                    </a:gridCol>
                    <a:gridCol w="1557513">
                      <a:extLst>
                        <a:ext uri="{9D8B030D-6E8A-4147-A177-3AD203B41FA5}">
                          <a16:colId xmlns:a16="http://schemas.microsoft.com/office/drawing/2014/main" val="147546318"/>
                        </a:ext>
                      </a:extLst>
                    </a:gridCol>
                    <a:gridCol w="1564694">
                      <a:extLst>
                        <a:ext uri="{9D8B030D-6E8A-4147-A177-3AD203B41FA5}">
                          <a16:colId xmlns:a16="http://schemas.microsoft.com/office/drawing/2014/main" val="617017525"/>
                        </a:ext>
                      </a:extLst>
                    </a:gridCol>
                    <a:gridCol w="1564694">
                      <a:extLst>
                        <a:ext uri="{9D8B030D-6E8A-4147-A177-3AD203B41FA5}">
                          <a16:colId xmlns:a16="http://schemas.microsoft.com/office/drawing/2014/main" val="924339138"/>
                        </a:ext>
                      </a:extLst>
                    </a:gridCol>
                    <a:gridCol w="1432651">
                      <a:extLst>
                        <a:ext uri="{9D8B030D-6E8A-4147-A177-3AD203B41FA5}">
                          <a16:colId xmlns:a16="http://schemas.microsoft.com/office/drawing/2014/main" val="622486290"/>
                        </a:ext>
                      </a:extLst>
                    </a:gridCol>
                    <a:gridCol w="1333619">
                      <a:extLst>
                        <a:ext uri="{9D8B030D-6E8A-4147-A177-3AD203B41FA5}">
                          <a16:colId xmlns:a16="http://schemas.microsoft.com/office/drawing/2014/main" val="2896444185"/>
                        </a:ext>
                      </a:extLst>
                    </a:gridCol>
                    <a:gridCol w="1317115">
                      <a:extLst>
                        <a:ext uri="{9D8B030D-6E8A-4147-A177-3AD203B41FA5}">
                          <a16:colId xmlns:a16="http://schemas.microsoft.com/office/drawing/2014/main" val="2463901704"/>
                        </a:ext>
                      </a:extLst>
                    </a:gridCol>
                    <a:gridCol w="1548187">
                      <a:extLst>
                        <a:ext uri="{9D8B030D-6E8A-4147-A177-3AD203B41FA5}">
                          <a16:colId xmlns:a16="http://schemas.microsoft.com/office/drawing/2014/main" val="650452430"/>
                        </a:ext>
                      </a:extLst>
                    </a:gridCol>
                  </a:tblGrid>
                  <a:tr h="1143636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70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1700"/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Total donor blocks </a:t>
                          </a:r>
                          <a14:m>
                            <m:oMath xmlns:m="http://schemas.openxmlformats.org/officeDocument/2006/math">
                              <m:r>
                                <a:rPr lang="en-US" sz="17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sz="1700" dirty="0"/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Selected donor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Selected donor pre-period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Pseudo-post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Weight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Step 9 latent MSE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Step 10 outcome NMSE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255016125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D18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W18–W37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0.5647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1.1193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1696536268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W16–W37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0.5571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1.0660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3248756728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W14–W37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0.5416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1.0598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2847152029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W12–W37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0.5245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1.8503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110778166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W10–W37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0.5096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1.7697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566551849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30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W08–W37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0.4998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1.7614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2264382563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32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W06–W37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0.4994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1.6567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6642259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EC105C5-C853-5751-2D60-61951A5A17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1361158"/>
                  </p:ext>
                </p:extLst>
              </p:nvPr>
            </p:nvGraphicFramePr>
            <p:xfrm>
              <a:off x="651162" y="1104405"/>
              <a:ext cx="11057907" cy="55101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9434">
                      <a:extLst>
                        <a:ext uri="{9D8B030D-6E8A-4147-A177-3AD203B41FA5}">
                          <a16:colId xmlns:a16="http://schemas.microsoft.com/office/drawing/2014/main" val="3429043268"/>
                        </a:ext>
                      </a:extLst>
                    </a:gridCol>
                    <a:gridCol w="1557513">
                      <a:extLst>
                        <a:ext uri="{9D8B030D-6E8A-4147-A177-3AD203B41FA5}">
                          <a16:colId xmlns:a16="http://schemas.microsoft.com/office/drawing/2014/main" val="147546318"/>
                        </a:ext>
                      </a:extLst>
                    </a:gridCol>
                    <a:gridCol w="1564694">
                      <a:extLst>
                        <a:ext uri="{9D8B030D-6E8A-4147-A177-3AD203B41FA5}">
                          <a16:colId xmlns:a16="http://schemas.microsoft.com/office/drawing/2014/main" val="617017525"/>
                        </a:ext>
                      </a:extLst>
                    </a:gridCol>
                    <a:gridCol w="1564694">
                      <a:extLst>
                        <a:ext uri="{9D8B030D-6E8A-4147-A177-3AD203B41FA5}">
                          <a16:colId xmlns:a16="http://schemas.microsoft.com/office/drawing/2014/main" val="924339138"/>
                        </a:ext>
                      </a:extLst>
                    </a:gridCol>
                    <a:gridCol w="1432651">
                      <a:extLst>
                        <a:ext uri="{9D8B030D-6E8A-4147-A177-3AD203B41FA5}">
                          <a16:colId xmlns:a16="http://schemas.microsoft.com/office/drawing/2014/main" val="622486290"/>
                        </a:ext>
                      </a:extLst>
                    </a:gridCol>
                    <a:gridCol w="1333619">
                      <a:extLst>
                        <a:ext uri="{9D8B030D-6E8A-4147-A177-3AD203B41FA5}">
                          <a16:colId xmlns:a16="http://schemas.microsoft.com/office/drawing/2014/main" val="2896444185"/>
                        </a:ext>
                      </a:extLst>
                    </a:gridCol>
                    <a:gridCol w="1317115">
                      <a:extLst>
                        <a:ext uri="{9D8B030D-6E8A-4147-A177-3AD203B41FA5}">
                          <a16:colId xmlns:a16="http://schemas.microsoft.com/office/drawing/2014/main" val="2463901704"/>
                        </a:ext>
                      </a:extLst>
                    </a:gridCol>
                    <a:gridCol w="1548187">
                      <a:extLst>
                        <a:ext uri="{9D8B030D-6E8A-4147-A177-3AD203B41FA5}">
                          <a16:colId xmlns:a16="http://schemas.microsoft.com/office/drawing/2014/main" val="650452430"/>
                        </a:ext>
                      </a:extLst>
                    </a:gridCol>
                  </a:tblGrid>
                  <a:tr h="114363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5446" marR="85446" marT="42723" marB="42723" anchor="ctr">
                        <a:blipFill>
                          <a:blip r:embed="rId2"/>
                          <a:stretch>
                            <a:fillRect l="-1724" r="-1406897" b="-38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5446" marR="85446" marT="42723" marB="42723" anchor="ctr">
                        <a:blipFill>
                          <a:blip r:embed="rId2"/>
                          <a:stretch>
                            <a:fillRect l="-47967" r="-563415" b="-38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Selected donor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Selected donor pre-period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Pseudo-post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Weight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Step 9 latent MSE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Step 10 outcome NMSE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255016125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D18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W18–W37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0.5647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1.1193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1696536268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W16–W37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0.5571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1.0660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3248756728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W14–W37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0.5416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1.0598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2847152029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W12–W37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0.5245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1.8503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110778166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28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D10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W10–W37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0.5096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1.7697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566551849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30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W08–W37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0.4998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1.7614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2264382563"/>
                      </a:ext>
                    </a:extLst>
                  </a:tr>
                  <a:tr h="623788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US" sz="1700"/>
                            <a:t>32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D6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W06–W37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W38–W47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1.00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/>
                            <a:t>0.4994</a:t>
                          </a:r>
                        </a:p>
                      </a:txBody>
                      <a:tcPr marL="85446" marR="85446" marT="42723" marB="42723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700" dirty="0"/>
                            <a:t>1.6567</a:t>
                          </a:r>
                        </a:p>
                      </a:txBody>
                      <a:tcPr marL="85446" marR="85446" marT="42723" marB="42723" anchor="ctr"/>
                    </a:tc>
                    <a:extLst>
                      <a:ext uri="{0D108BD9-81ED-4DB2-BD59-A6C34878D82A}">
                        <a16:rowId xmlns:a16="http://schemas.microsoft.com/office/drawing/2014/main" val="66422599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33C34-0985-64BE-CAD1-6750AD2F7D02}"/>
                  </a:ext>
                </a:extLst>
              </p:cNvPr>
              <p:cNvSpPr txBox="1"/>
              <p:nvPr/>
            </p:nvSpPr>
            <p:spPr>
              <a:xfrm>
                <a:off x="651161" y="456601"/>
                <a:ext cx="107135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1. Fix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change m : </a:t>
                </a:r>
                <a:r>
                  <a:rPr lang="en-US" b="1" dirty="0"/>
                  <a:t>every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selects the most recent feasible donor</a:t>
                </a:r>
                <a:r>
                  <a:rPr lang="en-US" dirty="0"/>
                  <a:t>. latent MSE decrease with m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33C34-0985-64BE-CAD1-6750AD2F7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61" y="456601"/>
                <a:ext cx="10713525" cy="369332"/>
              </a:xfrm>
              <a:prstGeom prst="rect">
                <a:avLst/>
              </a:prstGeom>
              <a:blipFill>
                <a:blip r:embed="rId3"/>
                <a:stretch>
                  <a:fillRect l="-474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673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6895EF-FAFC-4A51-BF5F-EC7CA35D90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789036"/>
                  </p:ext>
                </p:extLst>
              </p:nvPr>
            </p:nvGraphicFramePr>
            <p:xfrm>
              <a:off x="643467" y="868939"/>
              <a:ext cx="11184356" cy="51637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9872">
                      <a:extLst>
                        <a:ext uri="{9D8B030D-6E8A-4147-A177-3AD203B41FA5}">
                          <a16:colId xmlns:a16="http://schemas.microsoft.com/office/drawing/2014/main" val="79976954"/>
                        </a:ext>
                      </a:extLst>
                    </a:gridCol>
                    <a:gridCol w="1285675">
                      <a:extLst>
                        <a:ext uri="{9D8B030D-6E8A-4147-A177-3AD203B41FA5}">
                          <a16:colId xmlns:a16="http://schemas.microsoft.com/office/drawing/2014/main" val="2026201586"/>
                        </a:ext>
                      </a:extLst>
                    </a:gridCol>
                    <a:gridCol w="1607942">
                      <a:extLst>
                        <a:ext uri="{9D8B030D-6E8A-4147-A177-3AD203B41FA5}">
                          <a16:colId xmlns:a16="http://schemas.microsoft.com/office/drawing/2014/main" val="24179047"/>
                        </a:ext>
                      </a:extLst>
                    </a:gridCol>
                    <a:gridCol w="1743633">
                      <a:extLst>
                        <a:ext uri="{9D8B030D-6E8A-4147-A177-3AD203B41FA5}">
                          <a16:colId xmlns:a16="http://schemas.microsoft.com/office/drawing/2014/main" val="1322612764"/>
                        </a:ext>
                      </a:extLst>
                    </a:gridCol>
                    <a:gridCol w="1472251">
                      <a:extLst>
                        <a:ext uri="{9D8B030D-6E8A-4147-A177-3AD203B41FA5}">
                          <a16:colId xmlns:a16="http://schemas.microsoft.com/office/drawing/2014/main" val="891610518"/>
                        </a:ext>
                      </a:extLst>
                    </a:gridCol>
                    <a:gridCol w="1370482">
                      <a:extLst>
                        <a:ext uri="{9D8B030D-6E8A-4147-A177-3AD203B41FA5}">
                          <a16:colId xmlns:a16="http://schemas.microsoft.com/office/drawing/2014/main" val="454433308"/>
                        </a:ext>
                      </a:extLst>
                    </a:gridCol>
                    <a:gridCol w="1353521">
                      <a:extLst>
                        <a:ext uri="{9D8B030D-6E8A-4147-A177-3AD203B41FA5}">
                          <a16:colId xmlns:a16="http://schemas.microsoft.com/office/drawing/2014/main" val="3502580209"/>
                        </a:ext>
                      </a:extLst>
                    </a:gridCol>
                    <a:gridCol w="1590980">
                      <a:extLst>
                        <a:ext uri="{9D8B030D-6E8A-4147-A177-3AD203B41FA5}">
                          <a16:colId xmlns:a16="http://schemas.microsoft.com/office/drawing/2014/main" val="2854206106"/>
                        </a:ext>
                      </a:extLst>
                    </a:gridCol>
                  </a:tblGrid>
                  <a:tr h="16091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3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300" dirty="0"/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Total donor blocks </a:t>
                          </a:r>
                          <a14:m>
                            <m:oMath xmlns:m="http://schemas.openxmlformats.org/officeDocument/2006/math">
                              <m:r>
                                <a:rPr lang="en-US" sz="23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endParaRPr lang="en-US" sz="2300" dirty="0"/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Selected donor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Selected donor pre-period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Pseudo-post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Weight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Step 9 latent MSE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Step 10 outcome NMSE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1614098090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6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D12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W12–W41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W42–W47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0.1862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1.2223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7309305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D10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W10–W39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W40–W47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0.3244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2.2548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1161609201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W08–W37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W38–W47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0.4998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1.7614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2975916247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6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D6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W06–W35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W36–W47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0.7173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1.5359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33910131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F6895EF-FAFC-4A51-BF5F-EC7CA35D90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789036"/>
                  </p:ext>
                </p:extLst>
              </p:nvPr>
            </p:nvGraphicFramePr>
            <p:xfrm>
              <a:off x="643467" y="868939"/>
              <a:ext cx="11184356" cy="51637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9872">
                      <a:extLst>
                        <a:ext uri="{9D8B030D-6E8A-4147-A177-3AD203B41FA5}">
                          <a16:colId xmlns:a16="http://schemas.microsoft.com/office/drawing/2014/main" val="79976954"/>
                        </a:ext>
                      </a:extLst>
                    </a:gridCol>
                    <a:gridCol w="1285675">
                      <a:extLst>
                        <a:ext uri="{9D8B030D-6E8A-4147-A177-3AD203B41FA5}">
                          <a16:colId xmlns:a16="http://schemas.microsoft.com/office/drawing/2014/main" val="2026201586"/>
                        </a:ext>
                      </a:extLst>
                    </a:gridCol>
                    <a:gridCol w="1607942">
                      <a:extLst>
                        <a:ext uri="{9D8B030D-6E8A-4147-A177-3AD203B41FA5}">
                          <a16:colId xmlns:a16="http://schemas.microsoft.com/office/drawing/2014/main" val="24179047"/>
                        </a:ext>
                      </a:extLst>
                    </a:gridCol>
                    <a:gridCol w="1743633">
                      <a:extLst>
                        <a:ext uri="{9D8B030D-6E8A-4147-A177-3AD203B41FA5}">
                          <a16:colId xmlns:a16="http://schemas.microsoft.com/office/drawing/2014/main" val="1322612764"/>
                        </a:ext>
                      </a:extLst>
                    </a:gridCol>
                    <a:gridCol w="1472251">
                      <a:extLst>
                        <a:ext uri="{9D8B030D-6E8A-4147-A177-3AD203B41FA5}">
                          <a16:colId xmlns:a16="http://schemas.microsoft.com/office/drawing/2014/main" val="891610518"/>
                        </a:ext>
                      </a:extLst>
                    </a:gridCol>
                    <a:gridCol w="1370482">
                      <a:extLst>
                        <a:ext uri="{9D8B030D-6E8A-4147-A177-3AD203B41FA5}">
                          <a16:colId xmlns:a16="http://schemas.microsoft.com/office/drawing/2014/main" val="454433308"/>
                        </a:ext>
                      </a:extLst>
                    </a:gridCol>
                    <a:gridCol w="1353521">
                      <a:extLst>
                        <a:ext uri="{9D8B030D-6E8A-4147-A177-3AD203B41FA5}">
                          <a16:colId xmlns:a16="http://schemas.microsoft.com/office/drawing/2014/main" val="3502580209"/>
                        </a:ext>
                      </a:extLst>
                    </a:gridCol>
                    <a:gridCol w="1590980">
                      <a:extLst>
                        <a:ext uri="{9D8B030D-6E8A-4147-A177-3AD203B41FA5}">
                          <a16:colId xmlns:a16="http://schemas.microsoft.com/office/drawing/2014/main" val="2854206106"/>
                        </a:ext>
                      </a:extLst>
                    </a:gridCol>
                  </a:tblGrid>
                  <a:tr h="1609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9073" marR="119073" marT="59536" marB="59536" anchor="ctr">
                        <a:blipFill>
                          <a:blip r:embed="rId2"/>
                          <a:stretch>
                            <a:fillRect l="-1667" t="-787" r="-1373333" b="-2259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9073" marR="119073" marT="59536" marB="59536" anchor="ctr">
                        <a:blipFill>
                          <a:blip r:embed="rId2"/>
                          <a:stretch>
                            <a:fillRect l="-60396" t="-787" r="-715842" b="-2259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Selected donor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Selected donor pre-period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Pseudo-post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Weight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Step 9 latent MSE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Step 10 outcome NMSE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1614098090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6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D12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W12–W41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W42–W47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0.1862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1.2223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7309305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D10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W10–W39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W40–W47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0.3244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2.2548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1161609201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W08–W37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W38–W47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0.4998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1.7614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2975916247"/>
                      </a:ext>
                    </a:extLst>
                  </a:tr>
                  <a:tr h="88864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12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6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D6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W06–W35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W36–W47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1.00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/>
                            <a:t>0.7173</a:t>
                          </a:r>
                        </a:p>
                      </a:txBody>
                      <a:tcPr marL="119073" marR="119073" marT="59536" marB="5953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2300" dirty="0"/>
                            <a:t>1.5359</a:t>
                          </a:r>
                        </a:p>
                      </a:txBody>
                      <a:tcPr marL="119073" marR="119073" marT="59536" marB="59536" anchor="ctr"/>
                    </a:tc>
                    <a:extLst>
                      <a:ext uri="{0D108BD9-81ED-4DB2-BD59-A6C34878D82A}">
                        <a16:rowId xmlns:a16="http://schemas.microsoft.com/office/drawing/2014/main" val="339101311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D515D0-8008-DB63-A44D-DF3371E8CAB8}"/>
                  </a:ext>
                </a:extLst>
              </p:cNvPr>
              <p:cNvSpPr txBox="1"/>
              <p:nvPr/>
            </p:nvSpPr>
            <p:spPr>
              <a:xfrm>
                <a:off x="643467" y="361599"/>
                <a:ext cx="109050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2. Fix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dirty="0"/>
                  <a:t>, change n: </a:t>
                </a:r>
                <a:r>
                  <a:rPr lang="en-US" b="1" dirty="0"/>
                  <a:t>every n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selects the most recent feasible donor</a:t>
                </a:r>
                <a:r>
                  <a:rPr lang="en-US" dirty="0"/>
                  <a:t>. latent MSE increase with 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D515D0-8008-DB63-A44D-DF3371E8C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67" y="361599"/>
                <a:ext cx="10905066" cy="369332"/>
              </a:xfrm>
              <a:prstGeom prst="rect">
                <a:avLst/>
              </a:prstGeom>
              <a:blipFill>
                <a:blip r:embed="rId3"/>
                <a:stretch>
                  <a:fillRect l="-465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964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A80BCB-C636-3845-B7F8-CB792F105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161" y="90713"/>
            <a:ext cx="9785267" cy="652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2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C10A-E86B-2787-1735-2B4FC5F2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FA130-E966-014C-F700-A1308BF7B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Monthly Image has high quality, but we have to consider if we can median image immediately after hurricane</a:t>
            </a:r>
          </a:p>
          <a:p>
            <a:r>
              <a:rPr lang="en-US" dirty="0"/>
              <a:t>SHC consistently selects the most recent feasible historical block as the optimal donor.</a:t>
            </a:r>
          </a:p>
          <a:p>
            <a:r>
              <a:rPr lang="en-US" dirty="0"/>
              <a:t>Longer pre-treatment histories are valuable because they provide more candidate donor blocks, while a shorter post-treatment horizon preserves a larger donor pool.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4167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A94F9-E96A-3E5E-636D-E6AD63A60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642D4-0951-4F29-BB52-BBD7D0D3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Left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E6D6A-BAD4-12DB-F80B-9D2E7907B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1600" dirty="0"/>
              <a:t>How to solve cloud problem for sentinel 2 </a:t>
            </a:r>
          </a:p>
          <a:p>
            <a:pPr lvl="1"/>
            <a:r>
              <a:rPr lang="en-US" sz="1600" dirty="0"/>
              <a:t>use monthly median data </a:t>
            </a:r>
          </a:p>
          <a:p>
            <a:pPr lvl="0"/>
            <a:r>
              <a:rPr lang="en-US" sz="1600" dirty="0"/>
              <a:t>Compare sentinel 1 and sentinel 2</a:t>
            </a:r>
          </a:p>
          <a:p>
            <a:pPr lvl="1"/>
            <a:r>
              <a:rPr lang="en-US" sz="1600" dirty="0"/>
              <a:t>Sentinel-1: best for consistent hurricane monitoring because radar works through clouds; captures moisture, surface roughness, and structural change, but bands are harder to interpret.</a:t>
            </a:r>
          </a:p>
          <a:p>
            <a:pPr lvl="1"/>
            <a:r>
              <a:rPr lang="en-US" sz="1600" dirty="0"/>
              <a:t>Sentinel-2: better for interpreting vegetation, water, and land-cover changes; bands and indices are more intuitive, but clouds can severely reduce data quality after hurricanes.</a:t>
            </a:r>
          </a:p>
          <a:p>
            <a:pPr lvl="1"/>
            <a:r>
              <a:rPr lang="en-US" sz="1600" dirty="0"/>
              <a:t>Overall: use Sentinel-1 for reliable temporal impact estimation and Sentinel-2 as a complementary source for interpreting the type of damage.</a:t>
            </a:r>
          </a:p>
          <a:p>
            <a:r>
              <a:rPr lang="en-US" sz="1600" dirty="0"/>
              <a:t>Consider if different bands are one domain of outcomes </a:t>
            </a:r>
          </a:p>
          <a:p>
            <a:pPr lvl="1"/>
            <a:r>
              <a:rPr lang="en-US" sz="1600" dirty="0"/>
              <a:t>For SCM with multiple outcomes, main idea is if outcomes are effected by similar latent variables</a:t>
            </a:r>
          </a:p>
          <a:p>
            <a:pPr lvl="1"/>
            <a:r>
              <a:rPr lang="en-US" sz="1600" b="1" dirty="0"/>
              <a:t>Sentinel-1:</a:t>
            </a:r>
            <a:r>
              <a:rPr lang="en-US" sz="1600" dirty="0"/>
              <a:t> Multiple related radar outcomes that share common latent drivers such as moisture, roughness, vegetation structure, and surface disturbance.</a:t>
            </a:r>
          </a:p>
          <a:p>
            <a:pPr lvl="1"/>
            <a:r>
              <a:rPr lang="en-US" sz="1600" b="1" dirty="0"/>
              <a:t>Sentinel-2:</a:t>
            </a:r>
            <a:r>
              <a:rPr lang="en-US" sz="1600" dirty="0"/>
              <a:t> Multiple related optical outcomes that share environmental drivers but capture different physical characteristics such as vegetation, water, moisture, and reflectance.</a:t>
            </a:r>
          </a:p>
          <a:p>
            <a:pPr lvl="1"/>
            <a:r>
              <a:rPr lang="en-US" sz="1600" dirty="0"/>
              <a:t>But different bands respond differently to these factors.</a:t>
            </a:r>
          </a:p>
          <a:p>
            <a:pPr lvl="2"/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51895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3F16E0-1047-287C-37D8-B3EDF6E498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207336"/>
              </p:ext>
            </p:extLst>
          </p:nvPr>
        </p:nvGraphicFramePr>
        <p:xfrm>
          <a:off x="727579" y="1813071"/>
          <a:ext cx="10626221" cy="43710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148">
                  <a:extLst>
                    <a:ext uri="{9D8B030D-6E8A-4147-A177-3AD203B41FA5}">
                      <a16:colId xmlns:a16="http://schemas.microsoft.com/office/drawing/2014/main" val="138155172"/>
                    </a:ext>
                  </a:extLst>
                </a:gridCol>
                <a:gridCol w="2763965">
                  <a:extLst>
                    <a:ext uri="{9D8B030D-6E8A-4147-A177-3AD203B41FA5}">
                      <a16:colId xmlns:a16="http://schemas.microsoft.com/office/drawing/2014/main" val="205094668"/>
                    </a:ext>
                  </a:extLst>
                </a:gridCol>
                <a:gridCol w="1411091">
                  <a:extLst>
                    <a:ext uri="{9D8B030D-6E8A-4147-A177-3AD203B41FA5}">
                      <a16:colId xmlns:a16="http://schemas.microsoft.com/office/drawing/2014/main" val="2009702248"/>
                    </a:ext>
                  </a:extLst>
                </a:gridCol>
                <a:gridCol w="1542279">
                  <a:extLst>
                    <a:ext uri="{9D8B030D-6E8A-4147-A177-3AD203B41FA5}">
                      <a16:colId xmlns:a16="http://schemas.microsoft.com/office/drawing/2014/main" val="3474788050"/>
                    </a:ext>
                  </a:extLst>
                </a:gridCol>
                <a:gridCol w="3042738">
                  <a:extLst>
                    <a:ext uri="{9D8B030D-6E8A-4147-A177-3AD203B41FA5}">
                      <a16:colId xmlns:a16="http://schemas.microsoft.com/office/drawing/2014/main" val="2110061937"/>
                    </a:ext>
                  </a:extLst>
                </a:gridCol>
              </a:tblGrid>
              <a:tr h="7902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Sensor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Group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Period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 Numbers</a:t>
                      </a:r>
                    </a:p>
                  </a:txBody>
                  <a:tcPr marL="14178" marR="14178" marT="14178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Percentage of Valid Pixels</a:t>
                      </a:r>
                    </a:p>
                  </a:txBody>
                  <a:tcPr marL="14178" marR="14178" marT="14178" marB="0" anchor="ctr"/>
                </a:tc>
                <a:extLst>
                  <a:ext uri="{0D108BD9-81ED-4DB2-BD59-A6C34878D82A}">
                    <a16:rowId xmlns:a16="http://schemas.microsoft.com/office/drawing/2014/main" val="3752129003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counterfactual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after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120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99.87582917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3227693114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counterfactual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before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99.87875829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2862046728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treatment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after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99.8349835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1771224299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treatment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before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99.8349835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3956732982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counterfactual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after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87.87452379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1459420732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counterfactual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before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96.82356674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4081524850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treatment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after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86.46722098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2775624702"/>
                  </a:ext>
                </a:extLst>
              </a:tr>
              <a:tr h="447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sentinel2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treatment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before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92.83795706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178" marR="14178" marT="14178" marB="0" anchor="b"/>
                </a:tc>
                <a:extLst>
                  <a:ext uri="{0D108BD9-81ED-4DB2-BD59-A6C34878D82A}">
                    <a16:rowId xmlns:a16="http://schemas.microsoft.com/office/drawing/2014/main" val="2389705354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AD748AC3-432F-F457-8DC9-DD52FF27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Imagery Quality for Monthly Data</a:t>
            </a:r>
          </a:p>
        </p:txBody>
      </p:sp>
    </p:spTree>
    <p:extLst>
      <p:ext uri="{BB962C8B-B14F-4D97-AF65-F5344CB8AC3E}">
        <p14:creationId xmlns:p14="http://schemas.microsoft.com/office/powerpoint/2010/main" val="2709087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8EB34FD-5A84-49EA-9905-5C830204C5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9349586"/>
                  </p:ext>
                </p:extLst>
              </p:nvPr>
            </p:nvGraphicFramePr>
            <p:xfrm>
              <a:off x="130629" y="106104"/>
              <a:ext cx="11927694" cy="6645792"/>
            </p:xfrm>
            <a:graphic>
              <a:graphicData uri="http://schemas.openxmlformats.org/drawingml/2006/table">
                <a:tbl>
                  <a:tblPr>
                    <a:noFill/>
                    <a:tableStyleId>{5C22544A-7EE6-4342-B048-85BDC9FD1C3A}</a:tableStyleId>
                  </a:tblPr>
                  <a:tblGrid>
                    <a:gridCol w="2308355">
                      <a:extLst>
                        <a:ext uri="{9D8B030D-6E8A-4147-A177-3AD203B41FA5}">
                          <a16:colId xmlns:a16="http://schemas.microsoft.com/office/drawing/2014/main" val="2747901958"/>
                        </a:ext>
                      </a:extLst>
                    </a:gridCol>
                    <a:gridCol w="4039262">
                      <a:extLst>
                        <a:ext uri="{9D8B030D-6E8A-4147-A177-3AD203B41FA5}">
                          <a16:colId xmlns:a16="http://schemas.microsoft.com/office/drawing/2014/main" val="1579005442"/>
                        </a:ext>
                      </a:extLst>
                    </a:gridCol>
                    <a:gridCol w="4225218">
                      <a:extLst>
                        <a:ext uri="{9D8B030D-6E8A-4147-A177-3AD203B41FA5}">
                          <a16:colId xmlns:a16="http://schemas.microsoft.com/office/drawing/2014/main" val="1408762207"/>
                        </a:ext>
                      </a:extLst>
                    </a:gridCol>
                    <a:gridCol w="1354859">
                      <a:extLst>
                        <a:ext uri="{9D8B030D-6E8A-4147-A177-3AD203B41FA5}">
                          <a16:colId xmlns:a16="http://schemas.microsoft.com/office/drawing/2014/main" val="1724393299"/>
                        </a:ext>
                      </a:extLst>
                    </a:gridCol>
                  </a:tblGrid>
                  <a:tr h="2559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Step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SHC paper proposes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Multiple-outcome SHC extension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Extension level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7692944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1. Define outcome(s)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One scalar outcome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Use multiple related satellite outcomes within each sensor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 initially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4665917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2. Choose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Choose post-treatment horizon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; choose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based on pre-treatment matching quality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Use common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 across bands. For candidate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, evaluate joint matching performance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/ common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6058129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3. Estimate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Estimate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from pre-treatment data using the partially linear model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Estimate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separately for each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3524934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4. Estimate latent component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Estimate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for the scalar outcome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Estimate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separately for each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9190421"/>
                      </a:ext>
                    </a:extLst>
                  </a:tr>
                  <a:tr h="4747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5. Standardize latent component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No cross-outcome standardization because SHC uses one outcome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Standardize each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using that band's pre-treatment scale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2371534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6. Construct pseudo-panel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Construct historical pseudo-panel from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Construct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for each band, then stack standardized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's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across bands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10399212"/>
                      </a:ext>
                    </a:extLst>
                  </a:tr>
                  <a:tr h="84174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7. Select donor pool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Sequentially add historical donors; re-estimate weights and evaluate improvement in pre-treatment latent MSE. Stop when improvement is sufficiently small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Use the joint stacked latent MSE to sequentially select historical blocks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across bands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690522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8. Estimate SHC weights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Estimate convex weights by minimizing pre-treatment latent matching error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Estimate one common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 per treatment site × sensor using all bands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across bands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2127422"/>
                      </a:ext>
                    </a:extLst>
                  </a:tr>
                  <a:tr h="68245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9. Evaluate pre-treatment latent fit of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Report MSE between treated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200" cap="none" spc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200" i="0" cap="none" spc="0">
                                      <a:solidFill>
                                        <a:schemeClr val="tx1"/>
                                      </a:solidFill>
                                    </a:rPr>
                                    <m:t>pre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and synthetic latent component using the same pre-treatment block used to estimate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Calculate standardized latent MSE for each band first, then average across bands to obtain joint latent MSE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→ Joint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75724"/>
                      </a:ext>
                    </a:extLst>
                  </a:tr>
                  <a:tr h="6464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10. Evaluate pre-treatment outcome fit of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endParaRPr lang="en-US" sz="12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Also report MSE between observed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cap="none" spc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1200" i="0" cap="none" spc="0">
                                      <a:solidFill>
                                        <a:schemeClr val="tx1"/>
                                      </a:solidFill>
                                    </a:rPr>
                                    <m:t>pre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and synthetic pre-treatment outcome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Calculate outcome MSE separately for each band; standardize for scale differences; then average across bands to obtain joint outcome MSE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→ Joint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9905934"/>
                      </a:ext>
                    </a:extLst>
                  </a:tr>
                  <a:tr h="10369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11. Held-out pre-treatment validation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Not part of the SHC paper's main implementation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Hold out one or more pre-hurricane periods that are completely excluded from estimation of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; use the estimated common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cap="none" spc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oMath>
                          </a14:m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to predict each band's held-out outcome; calculate band-specific validation MSE and then joint standardized validation MSE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Separate → Joint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28024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8EB34FD-5A84-49EA-9905-5C830204C5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9349586"/>
                  </p:ext>
                </p:extLst>
              </p:nvPr>
            </p:nvGraphicFramePr>
            <p:xfrm>
              <a:off x="130629" y="106104"/>
              <a:ext cx="11927694" cy="6645792"/>
            </p:xfrm>
            <a:graphic>
              <a:graphicData uri="http://schemas.openxmlformats.org/drawingml/2006/table">
                <a:tbl>
                  <a:tblPr>
                    <a:noFill/>
                    <a:tableStyleId>{5C22544A-7EE6-4342-B048-85BDC9FD1C3A}</a:tableStyleId>
                  </a:tblPr>
                  <a:tblGrid>
                    <a:gridCol w="2308355">
                      <a:extLst>
                        <a:ext uri="{9D8B030D-6E8A-4147-A177-3AD203B41FA5}">
                          <a16:colId xmlns:a16="http://schemas.microsoft.com/office/drawing/2014/main" val="2747901958"/>
                        </a:ext>
                      </a:extLst>
                    </a:gridCol>
                    <a:gridCol w="4039262">
                      <a:extLst>
                        <a:ext uri="{9D8B030D-6E8A-4147-A177-3AD203B41FA5}">
                          <a16:colId xmlns:a16="http://schemas.microsoft.com/office/drawing/2014/main" val="1579005442"/>
                        </a:ext>
                      </a:extLst>
                    </a:gridCol>
                    <a:gridCol w="4225218">
                      <a:extLst>
                        <a:ext uri="{9D8B030D-6E8A-4147-A177-3AD203B41FA5}">
                          <a16:colId xmlns:a16="http://schemas.microsoft.com/office/drawing/2014/main" val="1408762207"/>
                        </a:ext>
                      </a:extLst>
                    </a:gridCol>
                    <a:gridCol w="1354859">
                      <a:extLst>
                        <a:ext uri="{9D8B030D-6E8A-4147-A177-3AD203B41FA5}">
                          <a16:colId xmlns:a16="http://schemas.microsoft.com/office/drawing/2014/main" val="1724393299"/>
                        </a:ext>
                      </a:extLst>
                    </a:gridCol>
                  </a:tblGrid>
                  <a:tr h="25597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Step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SHC paper proposes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Multiple-outcome SHC extension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Extension level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67692944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1. Define outcome(s)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47" t="-58333" r="-138679" b="-13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Use multiple related satellite outcomes within each sensor</a:t>
                          </a:r>
                          <a:endParaRPr lang="en-US" sz="1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 initially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14665917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9" t="-162857" r="-417033" b="-1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47" t="-162857" r="-138679" b="-1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450" t="-162857" r="-32432" b="-124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/ common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46058129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9" t="-255556" r="-417033" b="-1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47" t="-255556" r="-138679" b="-1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450" t="-255556" r="-32432" b="-1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3524934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4. Estimate latent component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47" t="-365714" r="-138679" b="-10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450" t="-365714" r="-32432" b="-10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19190421"/>
                      </a:ext>
                    </a:extLst>
                  </a:tr>
                  <a:tr h="4747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5. Standardize latent component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No cross-outcome standardization because SHC uses one outcome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450" t="-428947" r="-32432" b="-85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by band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2371534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9" t="-558333" r="-417033" b="-8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47" t="-558333" r="-138679" b="-8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450" t="-558333" r="-32432" b="-802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across bands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10399212"/>
                      </a:ext>
                    </a:extLst>
                  </a:tr>
                  <a:tr h="8417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9" t="-359091" r="-417033" b="-3378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Sequentially add historical donors; re-estimate weights and evaluate improvement in pre-treatment latent MSE. Stop when improvement is sufficiently small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Use the joint stacked latent MSE to sequentially select historical blocks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across bands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6690522"/>
                      </a:ext>
                    </a:extLst>
                  </a:tr>
                  <a:tr h="4512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9" t="-865714" r="-417033" b="-5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Estimate convex weights by minimizing pre-treatment latent matching error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450" t="-865714" r="-32432" b="-53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Joint across bands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2127422"/>
                      </a:ext>
                    </a:extLst>
                  </a:tr>
                  <a:tr h="6824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9" t="-625926" r="-417033" b="-24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47" t="-625926" r="-138679" b="-24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Calculate standardized latent MSE for each band first, then average across bands to obtain joint latent MSE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→ Joint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075724"/>
                      </a:ext>
                    </a:extLst>
                  </a:tr>
                  <a:tr h="6464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9" t="-768627" r="-417033" b="-1627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547" t="-768627" r="-138679" b="-1627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Calculate outcome MSE separately for each band; standardize for scale differences; then average across bands to obtain joint outcome MSE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Separate → Joint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39905934"/>
                      </a:ext>
                    </a:extLst>
                  </a:tr>
                  <a:tr h="1036997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>
                              <a:solidFill>
                                <a:schemeClr val="tx1"/>
                              </a:solidFill>
                            </a:rPr>
                            <a:t>11. Held-out pre-treatment validation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Not part of the SHC paper's main implementation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50450" t="-540244" r="-32432" b="-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cap="none" spc="0" dirty="0">
                              <a:solidFill>
                                <a:schemeClr val="tx1"/>
                              </a:solidFill>
                            </a:rPr>
                            <a:t>Separate → Joint</a:t>
                          </a:r>
                        </a:p>
                      </a:txBody>
                      <a:tcPr marL="14453" marR="14453" marT="59119" marB="7227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128024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2192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A1939949A84E4582646638888A1F85" ma:contentTypeVersion="9" ma:contentTypeDescription="Create a new document." ma:contentTypeScope="" ma:versionID="35c6587e8392ff8f32786ccf094381b3">
  <xsd:schema xmlns:xsd="http://www.w3.org/2001/XMLSchema" xmlns:xs="http://www.w3.org/2001/XMLSchema" xmlns:p="http://schemas.microsoft.com/office/2006/metadata/properties" xmlns:ns2="181a2738-5dcb-4010-a88e-f1e85ae93ab0" xmlns:ns3="b36be8fe-5d26-44bd-94bb-d9a3a8a718c6" targetNamespace="http://schemas.microsoft.com/office/2006/metadata/properties" ma:root="true" ma:fieldsID="e44c6bf82869ce1a107894696cfbeb92" ns2:_="" ns3:_="">
    <xsd:import namespace="181a2738-5dcb-4010-a88e-f1e85ae93ab0"/>
    <xsd:import namespace="b36be8fe-5d26-44bd-94bb-d9a3a8a718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1a2738-5dcb-4010-a88e-f1e85ae93a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86477d7-ad29-47e7-b319-eaa6f194967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6be8fe-5d26-44bd-94bb-d9a3a8a718c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ba6ad5e-7e8b-44ca-be82-7d15c4456806}" ma:internalName="TaxCatchAll" ma:showField="CatchAllData" ma:web="b36be8fe-5d26-44bd-94bb-d9a3a8a718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1a2738-5dcb-4010-a88e-f1e85ae93ab0">
      <Terms xmlns="http://schemas.microsoft.com/office/infopath/2007/PartnerControls"/>
    </lcf76f155ced4ddcb4097134ff3c332f>
    <TaxCatchAll xmlns="b36be8fe-5d26-44bd-94bb-d9a3a8a718c6" xsi:nil="true"/>
  </documentManagement>
</p:properties>
</file>

<file path=customXml/itemProps1.xml><?xml version="1.0" encoding="utf-8"?>
<ds:datastoreItem xmlns:ds="http://schemas.openxmlformats.org/officeDocument/2006/customXml" ds:itemID="{E1803E76-316F-4D8C-8E64-BA5094805532}"/>
</file>

<file path=customXml/itemProps2.xml><?xml version="1.0" encoding="utf-8"?>
<ds:datastoreItem xmlns:ds="http://schemas.openxmlformats.org/officeDocument/2006/customXml" ds:itemID="{C49E2ACC-5652-4902-98E7-9C2F9F232582}"/>
</file>

<file path=customXml/itemProps3.xml><?xml version="1.0" encoding="utf-8"?>
<ds:datastoreItem xmlns:ds="http://schemas.openxmlformats.org/officeDocument/2006/customXml" ds:itemID="{1FE834B1-DAEB-4CFC-8616-E4F6E60C8C85}"/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2848</Words>
  <Application>Microsoft Macintosh PowerPoint</Application>
  <PresentationFormat>Widescreen</PresentationFormat>
  <Paragraphs>879</Paragraphs>
  <Slides>27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Aptos Narrow</vt:lpstr>
      <vt:lpstr>Arial</vt:lpstr>
      <vt:lpstr>Cambria Math</vt:lpstr>
      <vt:lpstr>Office Theme</vt:lpstr>
      <vt:lpstr>Synthetic Historical Control for Policy Evaluation  Evidence from Satellite Data</vt:lpstr>
      <vt:lpstr>PowerPoint Presentation</vt:lpstr>
      <vt:lpstr>PowerPoint Presentation</vt:lpstr>
      <vt:lpstr>PowerPoint Presentation</vt:lpstr>
      <vt:lpstr>PowerPoint Presentation</vt:lpstr>
      <vt:lpstr>First Stage: Estimate Beta and Latent Component</vt:lpstr>
      <vt:lpstr>Second Stage: Estimate Weights</vt:lpstr>
      <vt:lpstr>Choose n</vt:lpstr>
      <vt:lpstr>Determination of m</vt:lpstr>
      <vt:lpstr>Parsimonious Donor Pool: Stepwise-matching procedure  </vt:lpstr>
      <vt:lpstr>PowerPoint Presentation</vt:lpstr>
      <vt:lpstr>Monthly Sentinel 1 and Sentinel 2 Datasets</vt:lpstr>
      <vt:lpstr>PowerPoint Presentation</vt:lpstr>
      <vt:lpstr>PowerPoint Presentation</vt:lpstr>
      <vt:lpstr>Steps of choosing donor pool for treatment site 15</vt:lpstr>
      <vt:lpstr>Standardized in Step 9 and Step 10</vt:lpstr>
      <vt:lpstr>PowerPoint Presentation</vt:lpstr>
      <vt:lpstr>Choose Different m</vt:lpstr>
      <vt:lpstr>Largest Acceptable m: always 8</vt:lpstr>
      <vt:lpstr>Weekly Sentinel 1 data</vt:lpstr>
      <vt:lpstr>PowerPoint Presentation</vt:lpstr>
      <vt:lpstr>PowerPoint Presentation</vt:lpstr>
      <vt:lpstr>PowerPoint Presentation</vt:lpstr>
      <vt:lpstr>Key Takeaways</vt:lpstr>
      <vt:lpstr>Questions Left from Last Week</vt:lpstr>
      <vt:lpstr>Imagery Quality for Monthly Data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Gao, Yujuan</dc:creator>
  <cp:lastModifiedBy>Gao, Yujuan</cp:lastModifiedBy>
  <cp:revision>33</cp:revision>
  <dcterms:created xsi:type="dcterms:W3CDTF">2026-08-31T15:41:39Z</dcterms:created>
  <dcterms:modified xsi:type="dcterms:W3CDTF">2026-09-04T19:58:49Z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0x010100A1A1939949A84E4582646638888A1F85</vt:lpwstr>
  </property>
</Properties>
</file>